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57"/>
    <p:restoredTop sz="94659"/>
  </p:normalViewPr>
  <p:slideViewPr>
    <p:cSldViewPr snapToGrid="0">
      <p:cViewPr varScale="1">
        <p:scale>
          <a:sx n="146" d="100"/>
          <a:sy n="146" d="100"/>
        </p:scale>
        <p:origin x="10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Open with the claim that memory is a governed data system, not a framework checkbox.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Run the unsafe starter tests. A red test represents a missing production decision, not missing syntax.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Short-term/long-term describe recall scope. Semantic/episodic/procedural describe what is stored. Keep the axes separate.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https://</a:t>
            </a:r>
            <a:r>
              <a:rPr dirty="0" err="1"/>
              <a:t>docs.langchain.com</a:t>
            </a:r>
            <a:r>
              <a:rPr dirty="0"/>
              <a:t>/</a:t>
            </a:r>
            <a:r>
              <a:rPr dirty="0" err="1"/>
              <a:t>oss</a:t>
            </a:r>
            <a:r>
              <a:rPr dirty="0"/>
              <a:t>/python/concepts/memory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Do not attempt eight retention and access policies inside one undifferentiated vector collection.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https://</a:t>
            </a:r>
            <a:r>
              <a:rPr dirty="0" err="1"/>
              <a:t>docs.langchain.com</a:t>
            </a:r>
            <a:r>
              <a:rPr dirty="0"/>
              <a:t>/</a:t>
            </a:r>
            <a:r>
              <a:rPr dirty="0" err="1"/>
              <a:t>oss</a:t>
            </a:r>
            <a:r>
              <a:rPr dirty="0"/>
              <a:t>/python/concepts/memory</a:t>
            </a:r>
          </a:p>
          <a:p>
            <a:r>
              <a:rPr dirty="0"/>
              <a:t>- https://</a:t>
            </a:r>
            <a:r>
              <a:rPr dirty="0" err="1"/>
              <a:t>redis.io</a:t>
            </a:r>
            <a:r>
              <a:rPr dirty="0"/>
              <a:t>/docs/latest/develop/use-cases/agent-memory/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Memory may point to a mutable record, but it must not replace the authoritative lookup.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Every strategy trades loss, latency, consistency, privacy, or cost. Make the trade explicit.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https://</a:t>
            </a:r>
            <a:r>
              <a:rPr dirty="0" err="1"/>
              <a:t>docs.langchain.com</a:t>
            </a:r>
            <a:r>
              <a:rPr dirty="0"/>
              <a:t>/</a:t>
            </a:r>
            <a:r>
              <a:rPr dirty="0" err="1"/>
              <a:t>oss</a:t>
            </a:r>
            <a:r>
              <a:rPr dirty="0"/>
              <a:t>/python/concepts/memory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Production </a:t>
            </a:r>
            <a:r>
              <a:rPr dirty="0" err="1"/>
              <a:t>checkpointers</a:t>
            </a:r>
            <a:r>
              <a:rPr dirty="0"/>
              <a:t> let thread state survive restarts and multiple workers. Sessions are conversation history, not the full long-term memory problem.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https://</a:t>
            </a:r>
            <a:r>
              <a:rPr dirty="0" err="1"/>
              <a:t>docs.langchain.com</a:t>
            </a:r>
            <a:r>
              <a:rPr dirty="0"/>
              <a:t>/</a:t>
            </a:r>
            <a:r>
              <a:rPr dirty="0" err="1"/>
              <a:t>oss</a:t>
            </a:r>
            <a:r>
              <a:rPr dirty="0"/>
              <a:t>/python/</a:t>
            </a:r>
            <a:r>
              <a:rPr dirty="0" err="1"/>
              <a:t>langgraph</a:t>
            </a:r>
            <a:r>
              <a:rPr dirty="0"/>
              <a:t>/add-memory</a:t>
            </a:r>
          </a:p>
          <a:p>
            <a:r>
              <a:rPr dirty="0"/>
              <a:t>- https://</a:t>
            </a:r>
            <a:r>
              <a:rPr dirty="0" err="1"/>
              <a:t>openai.github.io</a:t>
            </a:r>
            <a:r>
              <a:rPr dirty="0"/>
              <a:t>/</a:t>
            </a:r>
            <a:r>
              <a:rPr dirty="0" err="1"/>
              <a:t>openai</a:t>
            </a:r>
            <a:r>
              <a:rPr dirty="0"/>
              <a:t>-agents-python/sessions/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Semantic memory is facts; semantic search is one retrieval technique. Episodic memory often supplies examples. Procedural memory changes behavior.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https://</a:t>
            </a:r>
            <a:r>
              <a:rPr dirty="0" err="1"/>
              <a:t>docs.langchain.com</a:t>
            </a:r>
            <a:r>
              <a:rPr dirty="0"/>
              <a:t>/</a:t>
            </a:r>
            <a:r>
              <a:rPr dirty="0" err="1"/>
              <a:t>oss</a:t>
            </a:r>
            <a:r>
              <a:rPr dirty="0"/>
              <a:t>/python/concepts/memory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Hot-path writes trade latency for immediacy; background writes trade freshness for separation and synthesis.</a:t>
            </a:r>
          </a:p>
          <a:p>
            <a:endParaRPr/>
          </a:p>
          <a:p>
            <a:r>
              <a:t>[Sources]</a:t>
            </a:r>
          </a:p>
          <a:p>
            <a:r>
              <a:t>- https://docs.langchain.com/oss/python/concepts/memory</a:t>
            </a:r>
          </a:p>
          <a:p>
            <a:r>
              <a:t>- https://docs.langchain.com/oss/python/deepagents/memory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left to right for the read path, then down to the two memory tiers. The write path enters the gateway before storage.</a:t>
            </a:r>
          </a:p>
          <a:p>
            <a:endParaRPr/>
          </a:p>
          <a:p>
            <a:r>
              <a:t>[Sources]</a:t>
            </a:r>
          </a:p>
          <a:p>
            <a:r>
              <a:t>- https://docs.langchain.com/oss/python/langgraph/persistence</a:t>
            </a:r>
          </a:p>
          <a:p>
            <a:r>
              <a:t>- https://redis.io/docs/latest/develop/use-cases/agent-memory/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Redis is a common shared low-latency session backend. PostgreSQL checkpointers are appropriate when transactional persistence is preferred. TTL should be explicit.</a:t>
            </a:r>
          </a:p>
          <a:p>
            <a:endParaRPr/>
          </a:p>
          <a:p>
            <a:r>
              <a:t>[Sources]</a:t>
            </a:r>
          </a:p>
          <a:p>
            <a:r>
              <a:t>- https://openai.github.io/openai-agents-python/sessions/</a:t>
            </a:r>
          </a:p>
          <a:p>
            <a:r>
              <a:t>- https://docs.langchain.com/oss/python/langgraph/add-memory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TODO 1. Finish with the compaction and restart tests green.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Embeddings are derived indexes. Policy and lifecycle authority belong in structured metadata.</a:t>
            </a:r>
          </a:p>
          <a:p>
            <a:endParaRPr/>
          </a:p>
          <a:p>
            <a:r>
              <a:t>[Sources]</a:t>
            </a:r>
          </a:p>
          <a:p>
            <a:r>
              <a:t>- https://docs.langchain.com/oss/python/langgraph/persistence</a:t>
            </a:r>
          </a:p>
          <a:p>
            <a:r>
              <a:t>- https://redis.io/docs/latest/develop/use-cases/agent-memory/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Managed extraction does not remove ownership, authority, scope, conflict, or retention decisions.</a:t>
            </a:r>
          </a:p>
          <a:p>
            <a:endParaRPr/>
          </a:p>
          <a:p>
            <a:r>
              <a:t>[Sources]</a:t>
            </a:r>
          </a:p>
          <a:p>
            <a:r>
              <a:t>- https://docs.langchain.com/oss/python/concepts/memory</a:t>
            </a:r>
          </a:p>
          <a:p>
            <a:r>
              <a:t>- https://redis.io/docs/latest/develop/ai/context-engine/agent-memory/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Hot-path memory tools should expose explicit user-visible writes where appropriate. Sensitive exclusions and user controls are still application responsibilities.</a:t>
            </a:r>
          </a:p>
          <a:p>
            <a:endParaRPr/>
          </a:p>
          <a:p>
            <a:r>
              <a:t>[Sources]</a:t>
            </a:r>
          </a:p>
          <a:p>
            <a:r>
              <a:t>- https://docs.langchain.com/oss/python/concepts/memory</a:t>
            </a:r>
          </a:p>
          <a:p>
            <a:r>
              <a:t>- https://redis.io/docs/latest/develop/ai/context-engine/agent-memory/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Compare observed time, not insertion time. Preserve prior versions for reconstruction and conflict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Metadata filters need to be inside the query. Approximate vector indexes plus filters require recall testing; tenant partitioning may be appropriate.</a:t>
            </a:r>
          </a:p>
          <a:p>
            <a:endParaRPr/>
          </a:p>
          <a:p>
            <a:r>
              <a:t>[Sources]</a:t>
            </a:r>
          </a:p>
          <a:p>
            <a:r>
              <a:t>- https://github.com/pgvector/pgvector</a:t>
            </a:r>
          </a:p>
          <a:p>
            <a:r>
              <a:t>- https://docs.langchain.com/oss/python/langgraph/persistence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Previous messages may be re-fed on later runs and increase input tokens. Bounded context reduces both cost and exposure surface.</a:t>
            </a:r>
          </a:p>
          <a:p>
            <a:endParaRPr/>
          </a:p>
          <a:p>
            <a:r>
              <a:t>[Sources]</a:t>
            </a:r>
          </a:p>
          <a:p>
            <a:r>
              <a:t>- https://openai.github.io/openai-agents-python/usage/</a:t>
            </a:r>
          </a:p>
          <a:p>
            <a:r>
              <a:t>- https://redis.io/docs/latest/develop/use-cases/agent-memory/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Redis documents a single-instance pattern for thread hashes, JSON memories, Search filters, Streams, and TTL. PostgreSQL with pgvector provides relational metadata plus exact or approximate vector search.</a:t>
            </a:r>
          </a:p>
          <a:p>
            <a:endParaRPr/>
          </a:p>
          <a:p>
            <a:r>
              <a:t>[Sources]</a:t>
            </a:r>
          </a:p>
          <a:p>
            <a:r>
              <a:t>- https://redis.io/docs/latest/develop/use-cases/agent-memory/</a:t>
            </a:r>
          </a:p>
          <a:p>
            <a:r>
              <a:t>- https://github.com/pgvector/pgvector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Pause after each failure name. Ask learners for the control, then reveal the corresponding acceptance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Run the 14-test suite and the deterministic demo. Ask learners to state one remaining production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by asking learners to defend the separation between checkpoints and long-term memory, and policy enforcement on both writes and reads.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ver-eyebrow">
            <a:extLst>
              <a:ext uri="{FF2B5EF4-FFF2-40B4-BE49-F238E27FC236}">
                <a16:creationId xmlns:a16="http://schemas.microsoft.com/office/drawing/2014/main" id="{23A31A33-5A58-4B12-8F31-844BFBBB7A44}"/>
              </a:ext>
            </a:extLst>
          </p:cNvPr>
          <p:cNvSpPr>
            <a:spLocks noGrp="1"/>
          </p:cNvSpPr>
          <p:nvPr/>
        </p:nvSpPr>
        <p:spPr>
          <a:xfrm>
            <a:off x="457200" y="400050"/>
            <a:ext cx="571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ADVANCED PRODUCTION BUILD PHASE</a:t>
            </a:r>
          </a:p>
        </p:txBody>
      </p:sp>
      <p:sp>
        <p:nvSpPr>
          <p:cNvPr id="2" name="cover-title">
            <a:extLst>
              <a:ext uri="{FF2B5EF4-FFF2-40B4-BE49-F238E27FC236}">
                <a16:creationId xmlns:a16="http://schemas.microsoft.com/office/drawing/2014/main" id="{C5CE23BE-9215-46D0-BE27-B577F31B102E}"/>
              </a:ext>
            </a:extLst>
          </p:cNvPr>
          <p:cNvSpPr>
            <a:spLocks noGrp="1"/>
          </p:cNvSpPr>
          <p:nvPr/>
        </p:nvSpPr>
        <p:spPr>
          <a:xfrm>
            <a:off x="457200" y="1714500"/>
            <a:ext cx="99060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l">
              <a:defRPr sz="58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Governed</a:t>
            </a:r>
          </a:p>
          <a:p>
            <a:pPr algn="l">
              <a:defRPr sz="58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Persistent Memory</a:t>
            </a:r>
          </a:p>
        </p:txBody>
      </p:sp>
      <p:sp>
        <p:nvSpPr>
          <p:cNvPr id="3" name="cover-accent">
            <a:extLst>
              <a:ext uri="{FF2B5EF4-FFF2-40B4-BE49-F238E27FC236}">
                <a16:creationId xmlns:a16="http://schemas.microsoft.com/office/drawing/2014/main" id="{845BC56E-2FE3-40C1-B082-666F304F2697}"/>
              </a:ext>
            </a:extLst>
          </p:cNvPr>
          <p:cNvSpPr>
            <a:spLocks noGrp="1"/>
          </p:cNvSpPr>
          <p:nvPr/>
        </p:nvSpPr>
        <p:spPr>
          <a:xfrm>
            <a:off x="457200" y="4438650"/>
            <a:ext cx="4286250" cy="1143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cover-subtitle">
            <a:extLst>
              <a:ext uri="{FF2B5EF4-FFF2-40B4-BE49-F238E27FC236}">
                <a16:creationId xmlns:a16="http://schemas.microsoft.com/office/drawing/2014/main" id="{D70A2608-F213-4A5F-9CC8-382687771E79}"/>
              </a:ext>
            </a:extLst>
          </p:cNvPr>
          <p:cNvSpPr>
            <a:spLocks noGrp="1"/>
          </p:cNvSpPr>
          <p:nvPr/>
        </p:nvSpPr>
        <p:spPr>
          <a:xfrm>
            <a:off x="457200" y="4857750"/>
            <a:ext cx="838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Short-term context. Long-term recall. Production boundaries.</a:t>
            </a:r>
          </a:p>
        </p:txBody>
      </p:sp>
      <p:sp>
        <p:nvSpPr>
          <p:cNvPr id="5" name="cover-theme">
            <a:extLst>
              <a:ext uri="{FF2B5EF4-FFF2-40B4-BE49-F238E27FC236}">
                <a16:creationId xmlns:a16="http://schemas.microsoft.com/office/drawing/2014/main" id="{742E5F8A-81D3-47A5-A464-D26945F567C7}"/>
              </a:ext>
            </a:extLst>
          </p:cNvPr>
          <p:cNvSpPr>
            <a:spLocks noGrp="1"/>
          </p:cNvSpPr>
          <p:nvPr/>
        </p:nvSpPr>
        <p:spPr>
          <a:xfrm>
            <a:off x="457200" y="59245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 model proposes. Policy decides. Code remembers.</a:t>
            </a:r>
          </a:p>
        </p:txBody>
      </p:sp>
    </p:spTree>
    <p:extLst>
      <p:ext uri="{BB962C8B-B14F-4D97-AF65-F5344CB8AC3E}">
        <p14:creationId xmlns:p14="http://schemas.microsoft.com/office/powerpoint/2010/main" val="1433215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yebrow-2">
            <a:extLst>
              <a:ext uri="{FF2B5EF4-FFF2-40B4-BE49-F238E27FC236}">
                <a16:creationId xmlns:a16="http://schemas.microsoft.com/office/drawing/2014/main" id="{2A23983D-8573-4EB0-B911-020B25FAE4A1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GOVERNED PERSISTENT MEMORY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3CEBB50C-713A-4653-B420-DA2553FE08CC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110966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The most dangerous memory is plausible—and wrong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3FEC6FFD-DA34-41C6-A8F6-FE3D3D11603A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11252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2">
            <a:extLst>
              <a:ext uri="{FF2B5EF4-FFF2-40B4-BE49-F238E27FC236}">
                <a16:creationId xmlns:a16="http://schemas.microsoft.com/office/drawing/2014/main" id="{FFAD04B6-C5DA-4D2D-9319-501CD14DF431}"/>
              </a:ext>
            </a:extLst>
          </p:cNvPr>
          <p:cNvSpPr>
            <a:spLocks noGrp="1"/>
          </p:cNvSpPr>
          <p:nvPr/>
        </p:nvSpPr>
        <p:spPr>
          <a:xfrm>
            <a:off x="11182350" y="64103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label-bg-Incident-48">
            <a:extLst>
              <a:ext uri="{FF2B5EF4-FFF2-40B4-BE49-F238E27FC236}">
                <a16:creationId xmlns:a16="http://schemas.microsoft.com/office/drawing/2014/main" id="{F6CAD6EB-2DB8-4B3E-B502-C4C1375D2D8B}"/>
              </a:ext>
            </a:extLst>
          </p:cNvPr>
          <p:cNvSpPr>
            <a:spLocks noGrp="1"/>
          </p:cNvSpPr>
          <p:nvPr/>
        </p:nvSpPr>
        <p:spPr>
          <a:xfrm>
            <a:off x="457200" y="1847850"/>
            <a:ext cx="1047750" cy="285750"/>
          </a:xfrm>
          <a:prstGeom prst="rect">
            <a:avLst/>
          </a:prstGeom>
          <a:solidFill>
            <a:srgbClr val="D92D2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label-Incident-48">
            <a:extLst>
              <a:ext uri="{FF2B5EF4-FFF2-40B4-BE49-F238E27FC236}">
                <a16:creationId xmlns:a16="http://schemas.microsoft.com/office/drawing/2014/main" id="{FEAE5520-18A6-4237-82A6-71BCB1451D51}"/>
              </a:ext>
            </a:extLst>
          </p:cNvPr>
          <p:cNvSpPr>
            <a:spLocks noGrp="1"/>
          </p:cNvSpPr>
          <p:nvPr/>
        </p:nvSpPr>
        <p:spPr>
          <a:xfrm>
            <a:off x="552450" y="1905000"/>
            <a:ext cx="857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INCIDENT</a:t>
            </a:r>
          </a:p>
        </p:txBody>
      </p:sp>
      <p:sp>
        <p:nvSpPr>
          <p:cNvPr id="7" name="incident-quote">
            <a:extLst>
              <a:ext uri="{FF2B5EF4-FFF2-40B4-BE49-F238E27FC236}">
                <a16:creationId xmlns:a16="http://schemas.microsoft.com/office/drawing/2014/main" id="{1AB16899-9D4C-471A-A1B7-891F3F3E6270}"/>
              </a:ext>
            </a:extLst>
          </p:cNvPr>
          <p:cNvSpPr>
            <a:spLocks noGrp="1"/>
          </p:cNvSpPr>
          <p:nvPr/>
        </p:nvSpPr>
        <p:spPr>
          <a:xfrm>
            <a:off x="457200" y="2352675"/>
            <a:ext cx="7239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137"/>
          </a:bodyPr>
          <a:lstStyle/>
          <a:p>
            <a:pPr algn="l">
              <a:defRPr sz="25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“Remember that this customer always wants phone calls.”</a:t>
            </a:r>
          </a:p>
        </p:txBody>
      </p:sp>
      <p:sp>
        <p:nvSpPr>
          <p:cNvPr id="8" name="incident-context">
            <a:extLst>
              <a:ext uri="{FF2B5EF4-FFF2-40B4-BE49-F238E27FC236}">
                <a16:creationId xmlns:a16="http://schemas.microsoft.com/office/drawing/2014/main" id="{031666DF-743C-4387-8048-5083BDACA9F3}"/>
              </a:ext>
            </a:extLst>
          </p:cNvPr>
          <p:cNvSpPr>
            <a:spLocks noGrp="1"/>
          </p:cNvSpPr>
          <p:nvPr/>
        </p:nvSpPr>
        <p:spPr>
          <a:xfrm>
            <a:off x="457200" y="3305175"/>
            <a:ext cx="6286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The user never said it. The model inferred it from one turn.</a:t>
            </a:r>
          </a:p>
          <a:p>
            <a:pPr algn="l">
              <a:defRPr sz="172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The direct-write feature persisted it for every future session.</a:t>
            </a:r>
          </a:p>
        </p:txBody>
      </p:sp>
      <p:sp>
        <p:nvSpPr>
          <p:cNvPr id="9" name="incident-impact">
            <a:extLst>
              <a:ext uri="{FF2B5EF4-FFF2-40B4-BE49-F238E27FC236}">
                <a16:creationId xmlns:a16="http://schemas.microsoft.com/office/drawing/2014/main" id="{84CF0782-4A80-4E78-8306-A8DB326B71CA}"/>
              </a:ext>
            </a:extLst>
          </p:cNvPr>
          <p:cNvSpPr>
            <a:spLocks noGrp="1"/>
          </p:cNvSpPr>
          <p:nvPr/>
        </p:nvSpPr>
        <p:spPr>
          <a:xfrm>
            <a:off x="7524750" y="1847850"/>
            <a:ext cx="4057650" cy="3562350"/>
          </a:xfrm>
          <a:prstGeom prst="rect">
            <a:avLst/>
          </a:prstGeom>
          <a:solidFill>
            <a:srgbClr val="FCE8E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incident-impact-title">
            <a:extLst>
              <a:ext uri="{FF2B5EF4-FFF2-40B4-BE49-F238E27FC236}">
                <a16:creationId xmlns:a16="http://schemas.microsoft.com/office/drawing/2014/main" id="{379CAB6D-58B6-41D7-B0E5-E323A9E4941F}"/>
              </a:ext>
            </a:extLst>
          </p:cNvPr>
          <p:cNvSpPr>
            <a:spLocks noGrp="1"/>
          </p:cNvSpPr>
          <p:nvPr/>
        </p:nvSpPr>
        <p:spPr>
          <a:xfrm>
            <a:off x="7829550" y="2171700"/>
            <a:ext cx="342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The failure survives the conversation</a:t>
            </a:r>
          </a:p>
        </p:txBody>
      </p:sp>
      <p:sp>
        <p:nvSpPr>
          <p:cNvPr id="11" name="incident-impact-body">
            <a:extLst>
              <a:ext uri="{FF2B5EF4-FFF2-40B4-BE49-F238E27FC236}">
                <a16:creationId xmlns:a16="http://schemas.microsoft.com/office/drawing/2014/main" id="{79CD00F2-76BE-4AEA-A957-FB724685C87D}"/>
              </a:ext>
            </a:extLst>
          </p:cNvPr>
          <p:cNvSpPr>
            <a:spLocks noGrp="1"/>
          </p:cNvSpPr>
          <p:nvPr/>
        </p:nvSpPr>
        <p:spPr>
          <a:xfrm>
            <a:off x="7829550" y="3048000"/>
            <a:ext cx="31432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• false personalization</a:t>
            </a:r>
          </a:p>
          <a:p>
            <a:pPr algn="l">
              <a:defRPr sz="17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• stale decisions</a:t>
            </a:r>
          </a:p>
          <a:p>
            <a:pPr algn="l">
              <a:defRPr sz="17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• cross-session propagation</a:t>
            </a:r>
          </a:p>
          <a:p>
            <a:pPr algn="l">
              <a:defRPr sz="17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• no source or review trail</a:t>
            </a:r>
          </a:p>
          <a:p>
            <a:pPr algn="l">
              <a:defRPr sz="17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• difficult deletion</a:t>
            </a:r>
          </a:p>
        </p:txBody>
      </p:sp>
    </p:spTree>
    <p:extLst>
      <p:ext uri="{BB962C8B-B14F-4D97-AF65-F5344CB8AC3E}">
        <p14:creationId xmlns:p14="http://schemas.microsoft.com/office/powerpoint/2010/main" val="1981219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yebrow-3">
            <a:extLst>
              <a:ext uri="{FF2B5EF4-FFF2-40B4-BE49-F238E27FC236}">
                <a16:creationId xmlns:a16="http://schemas.microsoft.com/office/drawing/2014/main" id="{3C536B35-0485-4391-B7FC-1FAC171FD9F0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GOVERNED PERSISTENT MEMORY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A8DAA948-B709-40B1-B5A0-19F56BD8CE5E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110966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Memory has two axes: recall scope and content type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2CCDCA72-A5B5-4242-91C8-B025D24DA768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11252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3">
            <a:extLst>
              <a:ext uri="{FF2B5EF4-FFF2-40B4-BE49-F238E27FC236}">
                <a16:creationId xmlns:a16="http://schemas.microsoft.com/office/drawing/2014/main" id="{EE03AE74-87FB-4B1E-BF44-367F056BC1F9}"/>
              </a:ext>
            </a:extLst>
          </p:cNvPr>
          <p:cNvSpPr>
            <a:spLocks noGrp="1"/>
          </p:cNvSpPr>
          <p:nvPr/>
        </p:nvSpPr>
        <p:spPr>
          <a:xfrm>
            <a:off x="11182350" y="64103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axis-scope-title">
            <a:extLst>
              <a:ext uri="{FF2B5EF4-FFF2-40B4-BE49-F238E27FC236}">
                <a16:creationId xmlns:a16="http://schemas.microsoft.com/office/drawing/2014/main" id="{62C7345C-B7BF-4303-A8FC-8F2B50870DC3}"/>
              </a:ext>
            </a:extLst>
          </p:cNvPr>
          <p:cNvSpPr>
            <a:spLocks noGrp="1"/>
          </p:cNvSpPr>
          <p:nvPr/>
        </p:nvSpPr>
        <p:spPr>
          <a:xfrm>
            <a:off x="457200" y="18859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RECALL SCOPE</a:t>
            </a:r>
          </a:p>
        </p:txBody>
      </p:sp>
      <p:sp>
        <p:nvSpPr>
          <p:cNvPr id="6" name="axis-scope-big">
            <a:extLst>
              <a:ext uri="{FF2B5EF4-FFF2-40B4-BE49-F238E27FC236}">
                <a16:creationId xmlns:a16="http://schemas.microsoft.com/office/drawing/2014/main" id="{ACF653B2-BEDB-42DB-83C8-89189BAF7386}"/>
              </a:ext>
            </a:extLst>
          </p:cNvPr>
          <p:cNvSpPr>
            <a:spLocks noGrp="1"/>
          </p:cNvSpPr>
          <p:nvPr/>
        </p:nvSpPr>
        <p:spPr>
          <a:xfrm>
            <a:off x="457200" y="2324100"/>
            <a:ext cx="32385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Short-term</a:t>
            </a:r>
          </a:p>
          <a:p>
            <a:pPr algn="l">
              <a:defRPr sz="28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↕</a:t>
            </a:r>
          </a:p>
          <a:p>
            <a:pPr algn="l">
              <a:defRPr sz="28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Long-term</a:t>
            </a:r>
          </a:p>
        </p:txBody>
      </p:sp>
      <p:sp>
        <p:nvSpPr>
          <p:cNvPr id="7" name="axis-scope-note">
            <a:extLst>
              <a:ext uri="{FF2B5EF4-FFF2-40B4-BE49-F238E27FC236}">
                <a16:creationId xmlns:a16="http://schemas.microsoft.com/office/drawing/2014/main" id="{993EF47F-8C88-4912-BA75-F14B115D3758}"/>
              </a:ext>
            </a:extLst>
          </p:cNvPr>
          <p:cNvSpPr>
            <a:spLocks noGrp="1"/>
          </p:cNvSpPr>
          <p:nvPr/>
        </p:nvSpPr>
        <p:spPr>
          <a:xfrm>
            <a:off x="457200" y="4953000"/>
            <a:ext cx="3619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Thread-scoped state versus information available across threads and sessions.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A7B15939-BDBC-4629-AF8F-7292B5EFF255}"/>
              </a:ext>
            </a:extLst>
          </p:cNvPr>
          <p:cNvSpPr>
            <a:spLocks noGrp="1"/>
          </p:cNvSpPr>
          <p:nvPr/>
        </p:nvSpPr>
        <p:spPr>
          <a:xfrm>
            <a:off x="4457700" y="1847850"/>
            <a:ext cx="0" cy="371475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axis-type-title">
            <a:extLst>
              <a:ext uri="{FF2B5EF4-FFF2-40B4-BE49-F238E27FC236}">
                <a16:creationId xmlns:a16="http://schemas.microsoft.com/office/drawing/2014/main" id="{98E39116-33F9-4F35-9BF6-3C7A94285E25}"/>
              </a:ext>
            </a:extLst>
          </p:cNvPr>
          <p:cNvSpPr>
            <a:spLocks noGrp="1"/>
          </p:cNvSpPr>
          <p:nvPr/>
        </p:nvSpPr>
        <p:spPr>
          <a:xfrm>
            <a:off x="4953000" y="18859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CONTENT TYPE</a:t>
            </a:r>
          </a:p>
        </p:txBody>
      </p:sp>
      <p:sp>
        <p:nvSpPr>
          <p:cNvPr id="10" name="axis-type-0">
            <a:extLst>
              <a:ext uri="{FF2B5EF4-FFF2-40B4-BE49-F238E27FC236}">
                <a16:creationId xmlns:a16="http://schemas.microsoft.com/office/drawing/2014/main" id="{A3A8BCD5-FD83-49F4-8F95-DFD4A824A7C2}"/>
              </a:ext>
            </a:extLst>
          </p:cNvPr>
          <p:cNvSpPr>
            <a:spLocks noGrp="1"/>
          </p:cNvSpPr>
          <p:nvPr/>
        </p:nvSpPr>
        <p:spPr>
          <a:xfrm>
            <a:off x="4953000" y="236220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Working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445D7294-5CAC-4FC7-8A65-6ED723208044}"/>
              </a:ext>
            </a:extLst>
          </p:cNvPr>
          <p:cNvSpPr>
            <a:spLocks noGrp="1"/>
          </p:cNvSpPr>
          <p:nvPr/>
        </p:nvSpPr>
        <p:spPr>
          <a:xfrm>
            <a:off x="4953000" y="2800350"/>
            <a:ext cx="2628900" cy="0"/>
          </a:xfrm>
          <a:prstGeom prst="line">
            <a:avLst/>
          </a:prstGeom>
          <a:noFill/>
          <a:ln w="2857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axis-type-1">
            <a:extLst>
              <a:ext uri="{FF2B5EF4-FFF2-40B4-BE49-F238E27FC236}">
                <a16:creationId xmlns:a16="http://schemas.microsoft.com/office/drawing/2014/main" id="{619991A2-E656-4043-A404-84A389A722D8}"/>
              </a:ext>
            </a:extLst>
          </p:cNvPr>
          <p:cNvSpPr>
            <a:spLocks noGrp="1"/>
          </p:cNvSpPr>
          <p:nvPr/>
        </p:nvSpPr>
        <p:spPr>
          <a:xfrm>
            <a:off x="8191500" y="236220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Conversational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5E96D7BF-7321-43E4-95DD-74C2469CBB89}"/>
              </a:ext>
            </a:extLst>
          </p:cNvPr>
          <p:cNvSpPr>
            <a:spLocks noGrp="1"/>
          </p:cNvSpPr>
          <p:nvPr/>
        </p:nvSpPr>
        <p:spPr>
          <a:xfrm>
            <a:off x="8191500" y="2800350"/>
            <a:ext cx="2628900" cy="0"/>
          </a:xfrm>
          <a:prstGeom prst="line">
            <a:avLst/>
          </a:prstGeom>
          <a:noFill/>
          <a:ln w="2857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axis-type-2">
            <a:extLst>
              <a:ext uri="{FF2B5EF4-FFF2-40B4-BE49-F238E27FC236}">
                <a16:creationId xmlns:a16="http://schemas.microsoft.com/office/drawing/2014/main" id="{15C99869-1DEE-4865-9E0F-7D7F57070417}"/>
              </a:ext>
            </a:extLst>
          </p:cNvPr>
          <p:cNvSpPr>
            <a:spLocks noGrp="1"/>
          </p:cNvSpPr>
          <p:nvPr/>
        </p:nvSpPr>
        <p:spPr>
          <a:xfrm>
            <a:off x="4953000" y="308610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Episodic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807744AD-6278-4283-B271-3901412AAABC}"/>
              </a:ext>
            </a:extLst>
          </p:cNvPr>
          <p:cNvSpPr>
            <a:spLocks noGrp="1"/>
          </p:cNvSpPr>
          <p:nvPr/>
        </p:nvSpPr>
        <p:spPr>
          <a:xfrm>
            <a:off x="4953000" y="3524250"/>
            <a:ext cx="2628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axis-type-3">
            <a:extLst>
              <a:ext uri="{FF2B5EF4-FFF2-40B4-BE49-F238E27FC236}">
                <a16:creationId xmlns:a16="http://schemas.microsoft.com/office/drawing/2014/main" id="{73891C12-29BF-4478-9A2A-7885CDE2B94A}"/>
              </a:ext>
            </a:extLst>
          </p:cNvPr>
          <p:cNvSpPr>
            <a:spLocks noGrp="1"/>
          </p:cNvSpPr>
          <p:nvPr/>
        </p:nvSpPr>
        <p:spPr>
          <a:xfrm>
            <a:off x="8191500" y="308610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Semantic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5A07D5DE-050F-4C36-AACC-C09CC8388C42}"/>
              </a:ext>
            </a:extLst>
          </p:cNvPr>
          <p:cNvSpPr>
            <a:spLocks noGrp="1"/>
          </p:cNvSpPr>
          <p:nvPr/>
        </p:nvSpPr>
        <p:spPr>
          <a:xfrm>
            <a:off x="8191500" y="3524250"/>
            <a:ext cx="2628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axis-type-4">
            <a:extLst>
              <a:ext uri="{FF2B5EF4-FFF2-40B4-BE49-F238E27FC236}">
                <a16:creationId xmlns:a16="http://schemas.microsoft.com/office/drawing/2014/main" id="{E78A7E62-6C93-4610-AB7A-54131707E599}"/>
              </a:ext>
            </a:extLst>
          </p:cNvPr>
          <p:cNvSpPr>
            <a:spLocks noGrp="1"/>
          </p:cNvSpPr>
          <p:nvPr/>
        </p:nvSpPr>
        <p:spPr>
          <a:xfrm>
            <a:off x="4953000" y="381000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Entity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46702729-574E-4993-91D9-3D5B270B57CB}"/>
              </a:ext>
            </a:extLst>
          </p:cNvPr>
          <p:cNvSpPr>
            <a:spLocks noGrp="1"/>
          </p:cNvSpPr>
          <p:nvPr/>
        </p:nvSpPr>
        <p:spPr>
          <a:xfrm>
            <a:off x="4953000" y="4248150"/>
            <a:ext cx="2628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axis-type-5">
            <a:extLst>
              <a:ext uri="{FF2B5EF4-FFF2-40B4-BE49-F238E27FC236}">
                <a16:creationId xmlns:a16="http://schemas.microsoft.com/office/drawing/2014/main" id="{1320A750-B5CE-4720-A28C-DA31BE91D0D8}"/>
              </a:ext>
            </a:extLst>
          </p:cNvPr>
          <p:cNvSpPr>
            <a:spLocks noGrp="1"/>
          </p:cNvSpPr>
          <p:nvPr/>
        </p:nvSpPr>
        <p:spPr>
          <a:xfrm>
            <a:off x="8191500" y="381000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Procedural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96815F70-5BB6-4524-8811-038B8FF103B4}"/>
              </a:ext>
            </a:extLst>
          </p:cNvPr>
          <p:cNvSpPr>
            <a:spLocks noGrp="1"/>
          </p:cNvSpPr>
          <p:nvPr/>
        </p:nvSpPr>
        <p:spPr>
          <a:xfrm>
            <a:off x="8191500" y="4248150"/>
            <a:ext cx="2628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axis-type-6">
            <a:extLst>
              <a:ext uri="{FF2B5EF4-FFF2-40B4-BE49-F238E27FC236}">
                <a16:creationId xmlns:a16="http://schemas.microsoft.com/office/drawing/2014/main" id="{1316179B-1F10-46BA-9B90-9960722CE078}"/>
              </a:ext>
            </a:extLst>
          </p:cNvPr>
          <p:cNvSpPr>
            <a:spLocks noGrp="1"/>
          </p:cNvSpPr>
          <p:nvPr/>
        </p:nvSpPr>
        <p:spPr>
          <a:xfrm>
            <a:off x="4953000" y="453390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Organizational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4324228C-A3BE-48C6-9702-3D78BDB79D18}"/>
              </a:ext>
            </a:extLst>
          </p:cNvPr>
          <p:cNvSpPr>
            <a:spLocks noGrp="1"/>
          </p:cNvSpPr>
          <p:nvPr/>
        </p:nvSpPr>
        <p:spPr>
          <a:xfrm>
            <a:off x="4953000" y="4972050"/>
            <a:ext cx="2628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axis-type-7">
            <a:extLst>
              <a:ext uri="{FF2B5EF4-FFF2-40B4-BE49-F238E27FC236}">
                <a16:creationId xmlns:a16="http://schemas.microsoft.com/office/drawing/2014/main" id="{39E6E8CC-9E8D-4449-9D7C-EBF22C822625}"/>
              </a:ext>
            </a:extLst>
          </p:cNvPr>
          <p:cNvSpPr>
            <a:spLocks noGrp="1"/>
          </p:cNvSpPr>
          <p:nvPr/>
        </p:nvSpPr>
        <p:spPr>
          <a:xfrm>
            <a:off x="8191500" y="453390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Audit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928BBBE6-9092-4DC8-81F3-06F33F0D953B}"/>
              </a:ext>
            </a:extLst>
          </p:cNvPr>
          <p:cNvSpPr>
            <a:spLocks noGrp="1"/>
          </p:cNvSpPr>
          <p:nvPr/>
        </p:nvSpPr>
        <p:spPr>
          <a:xfrm>
            <a:off x="8191500" y="4972050"/>
            <a:ext cx="2628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412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yebrow-4">
            <a:extLst>
              <a:ext uri="{FF2B5EF4-FFF2-40B4-BE49-F238E27FC236}">
                <a16:creationId xmlns:a16="http://schemas.microsoft.com/office/drawing/2014/main" id="{C2116C99-BB4B-4138-8BC7-E1AA47D95709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GOVERNED PERSISTENT MEMORY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3F1068BA-3A87-4D62-9F2E-438B8F8237A2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110966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Eight memory types need different truth and lifecycle rules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F5AB1AA8-F124-43D3-8B06-C86736700800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11252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4">
            <a:extLst>
              <a:ext uri="{FF2B5EF4-FFF2-40B4-BE49-F238E27FC236}">
                <a16:creationId xmlns:a16="http://schemas.microsoft.com/office/drawing/2014/main" id="{2706F6DC-7183-41B1-8593-B409EFC13441}"/>
              </a:ext>
            </a:extLst>
          </p:cNvPr>
          <p:cNvSpPr>
            <a:spLocks noGrp="1"/>
          </p:cNvSpPr>
          <p:nvPr/>
        </p:nvSpPr>
        <p:spPr>
          <a:xfrm>
            <a:off x="11182350" y="64103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graphicFrame>
        <p:nvGraphicFramePr>
          <p:cNvPr id="10" name="Table 9"/>
          <p:cNvGraphicFramePr/>
          <p:nvPr/>
        </p:nvGraphicFramePr>
        <p:xfrm>
          <a:off x="457200" y="1847850"/>
          <a:ext cx="11125200" cy="4114800"/>
        </p:xfrm>
        <a:graphic>
          <a:graphicData uri="http://schemas.openxmlformats.org/drawingml/2006/table">
            <a:tbl>
              <a:tblPr firstRow="1" bandRow="1"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Stores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Lifetime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Default substrate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</a:rPr>
                        <a:t>Working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</a:rPr>
                        <a:t>current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</a:rPr>
                        <a:t>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</a:rPr>
                        <a:t>checkpoint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</a:rPr>
                        <a:t>Conversational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</a:rPr>
                        <a:t>turns + summaries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</a:rPr>
                        <a:t>hours–months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</a:rPr>
                        <a:t>session store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</a:rPr>
                        <a:t>Episodic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</a:rPr>
                        <a:t>events + outcomes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</a:rPr>
                        <a:t>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</a:rPr>
                        <a:t>event log + retrieval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</a:rPr>
                        <a:t>Semantic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</a:rPr>
                        <a:t>facts + preferences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</a:rPr>
                        <a:t>days–years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</a:rPr>
                        <a:t>SQL + search index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</a:rPr>
                        <a:t>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</a:rPr>
                        <a:t>precise relationships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</a:rPr>
                        <a:t>domain-defined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</a:rPr>
                        <a:t>relational / graph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</a:rPr>
                        <a:t>Procedural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</a:rPr>
                        <a:t>rules + playbooks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</a:rPr>
                        <a:t>versioned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</a:rPr>
                        <a:t>reviewed config/code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</a:rPr>
                        <a:t>Organizational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</a:rPr>
                        <a:t>approved shared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</a:rPr>
                        <a:t>policy-defined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</a:rPr>
                        <a:t>governed knowledge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</a:rPr>
                        <a:t>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</a:rPr>
                        <a:t>what was known and 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</a:rPr>
                        <a:t>retention-defined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</a:rPr>
                        <a:t>append-only evidence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7301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yebrow-5">
            <a:extLst>
              <a:ext uri="{FF2B5EF4-FFF2-40B4-BE49-F238E27FC236}">
                <a16:creationId xmlns:a16="http://schemas.microsoft.com/office/drawing/2014/main" id="{AB2D5CA2-5608-484A-9C73-FB39D254963A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GOVERNED PERSISTENT MEMORY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85FFBA71-77E4-4AD2-9EA8-8BF030202531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110966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RAG, memory, and live truth answer different questions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A44260C3-41DC-4BA5-AEA9-5B9F232EF153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11252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5">
            <a:extLst>
              <a:ext uri="{FF2B5EF4-FFF2-40B4-BE49-F238E27FC236}">
                <a16:creationId xmlns:a16="http://schemas.microsoft.com/office/drawing/2014/main" id="{CC410649-0619-4131-92DE-B17D1E7A4F0D}"/>
              </a:ext>
            </a:extLst>
          </p:cNvPr>
          <p:cNvSpPr>
            <a:spLocks noGrp="1"/>
          </p:cNvSpPr>
          <p:nvPr/>
        </p:nvSpPr>
        <p:spPr>
          <a:xfrm>
            <a:off x="11182350" y="64103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boundary-head-0">
            <a:extLst>
              <a:ext uri="{FF2B5EF4-FFF2-40B4-BE49-F238E27FC236}">
                <a16:creationId xmlns:a16="http://schemas.microsoft.com/office/drawing/2014/main" id="{BE52295F-DF22-484B-AB43-90D91308CBE8}"/>
              </a:ext>
            </a:extLst>
          </p:cNvPr>
          <p:cNvSpPr>
            <a:spLocks noGrp="1"/>
          </p:cNvSpPr>
          <p:nvPr/>
        </p:nvSpPr>
        <p:spPr>
          <a:xfrm>
            <a:off x="457200" y="1981200"/>
            <a:ext cx="333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RAG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B3BD0167-FD28-4372-8BE1-EAB244FE9DC3}"/>
              </a:ext>
            </a:extLst>
          </p:cNvPr>
          <p:cNvSpPr>
            <a:spLocks noGrp="1"/>
          </p:cNvSpPr>
          <p:nvPr/>
        </p:nvSpPr>
        <p:spPr>
          <a:xfrm>
            <a:off x="457200" y="2476500"/>
            <a:ext cx="333375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boundary-q-0">
            <a:extLst>
              <a:ext uri="{FF2B5EF4-FFF2-40B4-BE49-F238E27FC236}">
                <a16:creationId xmlns:a16="http://schemas.microsoft.com/office/drawing/2014/main" id="{79D4F526-BC71-40CC-BFB2-FC12E2E1F346}"/>
              </a:ext>
            </a:extLst>
          </p:cNvPr>
          <p:cNvSpPr>
            <a:spLocks noGrp="1"/>
          </p:cNvSpPr>
          <p:nvPr/>
        </p:nvSpPr>
        <p:spPr>
          <a:xfrm>
            <a:off x="457200" y="2800350"/>
            <a:ext cx="3333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What do approved documents say?</a:t>
            </a:r>
          </a:p>
        </p:txBody>
      </p:sp>
      <p:sp>
        <p:nvSpPr>
          <p:cNvPr id="8" name="boundary-ex-0">
            <a:extLst>
              <a:ext uri="{FF2B5EF4-FFF2-40B4-BE49-F238E27FC236}">
                <a16:creationId xmlns:a16="http://schemas.microsoft.com/office/drawing/2014/main" id="{C86D6446-BD6C-4C07-A080-9834522851CD}"/>
              </a:ext>
            </a:extLst>
          </p:cNvPr>
          <p:cNvSpPr>
            <a:spLocks noGrp="1"/>
          </p:cNvSpPr>
          <p:nvPr/>
        </p:nvSpPr>
        <p:spPr>
          <a:xfrm>
            <a:off x="457200" y="3867150"/>
            <a:ext cx="333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Policies, manuals, runbooks</a:t>
            </a:r>
          </a:p>
        </p:txBody>
      </p:sp>
      <p:sp>
        <p:nvSpPr>
          <p:cNvPr id="9" name="boundary-ev-0">
            <a:extLst>
              <a:ext uri="{FF2B5EF4-FFF2-40B4-BE49-F238E27FC236}">
                <a16:creationId xmlns:a16="http://schemas.microsoft.com/office/drawing/2014/main" id="{3E7ADE52-3349-484E-928E-D6088AB3AEFA}"/>
              </a:ext>
            </a:extLst>
          </p:cNvPr>
          <p:cNvSpPr>
            <a:spLocks noGrp="1"/>
          </p:cNvSpPr>
          <p:nvPr/>
        </p:nvSpPr>
        <p:spPr>
          <a:xfrm>
            <a:off x="457200" y="4762500"/>
            <a:ext cx="333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Citations + document version</a:t>
            </a:r>
          </a:p>
        </p:txBody>
      </p:sp>
      <p:sp>
        <p:nvSpPr>
          <p:cNvPr id="10" name="boundary-head-1">
            <a:extLst>
              <a:ext uri="{FF2B5EF4-FFF2-40B4-BE49-F238E27FC236}">
                <a16:creationId xmlns:a16="http://schemas.microsoft.com/office/drawing/2014/main" id="{DFD5A2A4-8353-4E3B-867A-1F99C230CD9B}"/>
              </a:ext>
            </a:extLst>
          </p:cNvPr>
          <p:cNvSpPr>
            <a:spLocks noGrp="1"/>
          </p:cNvSpPr>
          <p:nvPr/>
        </p:nvSpPr>
        <p:spPr>
          <a:xfrm>
            <a:off x="4210050" y="1981200"/>
            <a:ext cx="333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MEMORY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81E0F966-AEA8-4B98-A464-B16D49289CB2}"/>
              </a:ext>
            </a:extLst>
          </p:cNvPr>
          <p:cNvSpPr>
            <a:spLocks noGrp="1"/>
          </p:cNvSpPr>
          <p:nvPr/>
        </p:nvSpPr>
        <p:spPr>
          <a:xfrm>
            <a:off x="4210050" y="2476500"/>
            <a:ext cx="3333750" cy="0"/>
          </a:xfrm>
          <a:prstGeom prst="line">
            <a:avLst/>
          </a:prstGeom>
          <a:noFill/>
          <a:ln w="3810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oundary-q-1">
            <a:extLst>
              <a:ext uri="{FF2B5EF4-FFF2-40B4-BE49-F238E27FC236}">
                <a16:creationId xmlns:a16="http://schemas.microsoft.com/office/drawing/2014/main" id="{D98EF11C-AF5D-4F6E-8744-034547CD19D0}"/>
              </a:ext>
            </a:extLst>
          </p:cNvPr>
          <p:cNvSpPr>
            <a:spLocks noGrp="1"/>
          </p:cNvSpPr>
          <p:nvPr/>
        </p:nvSpPr>
        <p:spPr>
          <a:xfrm>
            <a:off x="4210050" y="2800350"/>
            <a:ext cx="3333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What scoped fact or experience may help?</a:t>
            </a:r>
          </a:p>
        </p:txBody>
      </p:sp>
      <p:sp>
        <p:nvSpPr>
          <p:cNvPr id="13" name="boundary-ex-1">
            <a:extLst>
              <a:ext uri="{FF2B5EF4-FFF2-40B4-BE49-F238E27FC236}">
                <a16:creationId xmlns:a16="http://schemas.microsoft.com/office/drawing/2014/main" id="{8FB306D8-75FE-4298-AF05-4ADD66094471}"/>
              </a:ext>
            </a:extLst>
          </p:cNvPr>
          <p:cNvSpPr>
            <a:spLocks noGrp="1"/>
          </p:cNvSpPr>
          <p:nvPr/>
        </p:nvSpPr>
        <p:spPr>
          <a:xfrm>
            <a:off x="4210050" y="3867150"/>
            <a:ext cx="333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Preferences, episodes, summaries</a:t>
            </a:r>
          </a:p>
        </p:txBody>
      </p:sp>
      <p:sp>
        <p:nvSpPr>
          <p:cNvPr id="14" name="boundary-ev-1">
            <a:extLst>
              <a:ext uri="{FF2B5EF4-FFF2-40B4-BE49-F238E27FC236}">
                <a16:creationId xmlns:a16="http://schemas.microsoft.com/office/drawing/2014/main" id="{3E56E7BA-F1A6-41BE-8B01-291C27D79665}"/>
              </a:ext>
            </a:extLst>
          </p:cNvPr>
          <p:cNvSpPr>
            <a:spLocks noGrp="1"/>
          </p:cNvSpPr>
          <p:nvPr/>
        </p:nvSpPr>
        <p:spPr>
          <a:xfrm>
            <a:off x="4210050" y="4762500"/>
            <a:ext cx="333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Provenance + lifecycle</a:t>
            </a:r>
          </a:p>
        </p:txBody>
      </p:sp>
      <p:sp>
        <p:nvSpPr>
          <p:cNvPr id="15" name="boundary-head-2">
            <a:extLst>
              <a:ext uri="{FF2B5EF4-FFF2-40B4-BE49-F238E27FC236}">
                <a16:creationId xmlns:a16="http://schemas.microsoft.com/office/drawing/2014/main" id="{727B3443-1B64-464B-A5F5-091941438237}"/>
              </a:ext>
            </a:extLst>
          </p:cNvPr>
          <p:cNvSpPr>
            <a:spLocks noGrp="1"/>
          </p:cNvSpPr>
          <p:nvPr/>
        </p:nvSpPr>
        <p:spPr>
          <a:xfrm>
            <a:off x="7962900" y="1981200"/>
            <a:ext cx="333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SYSTEM OF RECORD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147AF9C2-949F-4278-8BF3-4CC52D7888D2}"/>
              </a:ext>
            </a:extLst>
          </p:cNvPr>
          <p:cNvSpPr>
            <a:spLocks noGrp="1"/>
          </p:cNvSpPr>
          <p:nvPr/>
        </p:nvSpPr>
        <p:spPr>
          <a:xfrm>
            <a:off x="7962900" y="2476500"/>
            <a:ext cx="333375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oundary-q-2">
            <a:extLst>
              <a:ext uri="{FF2B5EF4-FFF2-40B4-BE49-F238E27FC236}">
                <a16:creationId xmlns:a16="http://schemas.microsoft.com/office/drawing/2014/main" id="{D89B2889-16FF-4B82-A7AA-B5B8F61B1E67}"/>
              </a:ext>
            </a:extLst>
          </p:cNvPr>
          <p:cNvSpPr>
            <a:spLocks noGrp="1"/>
          </p:cNvSpPr>
          <p:nvPr/>
        </p:nvSpPr>
        <p:spPr>
          <a:xfrm>
            <a:off x="7962900" y="2800350"/>
            <a:ext cx="3333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What is true now?</a:t>
            </a:r>
          </a:p>
        </p:txBody>
      </p:sp>
      <p:sp>
        <p:nvSpPr>
          <p:cNvPr id="18" name="boundary-ex-2">
            <a:extLst>
              <a:ext uri="{FF2B5EF4-FFF2-40B4-BE49-F238E27FC236}">
                <a16:creationId xmlns:a16="http://schemas.microsoft.com/office/drawing/2014/main" id="{C8C117F1-62CD-4F9C-A778-4E3A3A341DBA}"/>
              </a:ext>
            </a:extLst>
          </p:cNvPr>
          <p:cNvSpPr>
            <a:spLocks noGrp="1"/>
          </p:cNvSpPr>
          <p:nvPr/>
        </p:nvSpPr>
        <p:spPr>
          <a:xfrm>
            <a:off x="7962900" y="3867150"/>
            <a:ext cx="333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Plan, balance, refund status</a:t>
            </a:r>
          </a:p>
        </p:txBody>
      </p:sp>
      <p:sp>
        <p:nvSpPr>
          <p:cNvPr id="19" name="boundary-ev-2">
            <a:extLst>
              <a:ext uri="{FF2B5EF4-FFF2-40B4-BE49-F238E27FC236}">
                <a16:creationId xmlns:a16="http://schemas.microsoft.com/office/drawing/2014/main" id="{397B143F-C037-4E00-9682-112CEB61E9B5}"/>
              </a:ext>
            </a:extLst>
          </p:cNvPr>
          <p:cNvSpPr>
            <a:spLocks noGrp="1"/>
          </p:cNvSpPr>
          <p:nvPr/>
        </p:nvSpPr>
        <p:spPr>
          <a:xfrm>
            <a:off x="7962900" y="4762500"/>
            <a:ext cx="333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Authoritative transaction</a:t>
            </a:r>
          </a:p>
        </p:txBody>
      </p:sp>
    </p:spTree>
    <p:extLst>
      <p:ext uri="{BB962C8B-B14F-4D97-AF65-F5344CB8AC3E}">
        <p14:creationId xmlns:p14="http://schemas.microsoft.com/office/powerpoint/2010/main" val="925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yebrow-6">
            <a:extLst>
              <a:ext uri="{FF2B5EF4-FFF2-40B4-BE49-F238E27FC236}">
                <a16:creationId xmlns:a16="http://schemas.microsoft.com/office/drawing/2014/main" id="{5D61D4A7-9590-4412-98A4-A632E3B21438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GOVERNED PERSISTENT MEMORY</a:t>
            </a:r>
          </a:p>
        </p:txBody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910962F6-2077-40B1-82D1-7A1A01236B79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110966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Choose a strategy by failure mode—not popularity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7987C1C4-6E2C-42F3-9C4C-806DFAF54A60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11252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6">
            <a:extLst>
              <a:ext uri="{FF2B5EF4-FFF2-40B4-BE49-F238E27FC236}">
                <a16:creationId xmlns:a16="http://schemas.microsoft.com/office/drawing/2014/main" id="{797D9958-99EF-4DA2-ACC5-5E94D4345C7F}"/>
              </a:ext>
            </a:extLst>
          </p:cNvPr>
          <p:cNvSpPr>
            <a:spLocks noGrp="1"/>
          </p:cNvSpPr>
          <p:nvPr/>
        </p:nvSpPr>
        <p:spPr>
          <a:xfrm>
            <a:off x="11182350" y="64103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strategy-num-0">
            <a:extLst>
              <a:ext uri="{FF2B5EF4-FFF2-40B4-BE49-F238E27FC236}">
                <a16:creationId xmlns:a16="http://schemas.microsoft.com/office/drawing/2014/main" id="{FE2854F8-1DA2-49D0-A9AE-610EEC0DEB07}"/>
              </a:ext>
            </a:extLst>
          </p:cNvPr>
          <p:cNvSpPr>
            <a:spLocks noGrp="1"/>
          </p:cNvSpPr>
          <p:nvPr/>
        </p:nvSpPr>
        <p:spPr>
          <a:xfrm>
            <a:off x="457200" y="192405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strategy-name-0">
            <a:extLst>
              <a:ext uri="{FF2B5EF4-FFF2-40B4-BE49-F238E27FC236}">
                <a16:creationId xmlns:a16="http://schemas.microsoft.com/office/drawing/2014/main" id="{F5658015-2223-4F82-831C-C2B2BE434965}"/>
              </a:ext>
            </a:extLst>
          </p:cNvPr>
          <p:cNvSpPr>
            <a:spLocks noGrp="1"/>
          </p:cNvSpPr>
          <p:nvPr/>
        </p:nvSpPr>
        <p:spPr>
          <a:xfrm>
            <a:off x="1352550" y="1885950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Buffer / window</a:t>
            </a:r>
          </a:p>
        </p:txBody>
      </p:sp>
      <p:sp>
        <p:nvSpPr>
          <p:cNvPr id="7" name="strategy-purpose-0">
            <a:extLst>
              <a:ext uri="{FF2B5EF4-FFF2-40B4-BE49-F238E27FC236}">
                <a16:creationId xmlns:a16="http://schemas.microsoft.com/office/drawing/2014/main" id="{1682A303-043B-43BA-A980-2311731EBB92}"/>
              </a:ext>
            </a:extLst>
          </p:cNvPr>
          <p:cNvSpPr>
            <a:spLocks noGrp="1"/>
          </p:cNvSpPr>
          <p:nvPr/>
        </p:nvSpPr>
        <p:spPr>
          <a:xfrm>
            <a:off x="5810250" y="1924050"/>
            <a:ext cx="457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Bound active context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7C354D00-F051-4754-938D-9A5A1E680005}"/>
              </a:ext>
            </a:extLst>
          </p:cNvPr>
          <p:cNvSpPr>
            <a:spLocks noGrp="1"/>
          </p:cNvSpPr>
          <p:nvPr/>
        </p:nvSpPr>
        <p:spPr>
          <a:xfrm>
            <a:off x="457200" y="2409825"/>
            <a:ext cx="111252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trategy-num-1">
            <a:extLst>
              <a:ext uri="{FF2B5EF4-FFF2-40B4-BE49-F238E27FC236}">
                <a16:creationId xmlns:a16="http://schemas.microsoft.com/office/drawing/2014/main" id="{EE08D9EC-CAF1-4BF6-8152-926062FE9B2E}"/>
              </a:ext>
            </a:extLst>
          </p:cNvPr>
          <p:cNvSpPr>
            <a:spLocks noGrp="1"/>
          </p:cNvSpPr>
          <p:nvPr/>
        </p:nvSpPr>
        <p:spPr>
          <a:xfrm>
            <a:off x="457200" y="266700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strategy-name-1">
            <a:extLst>
              <a:ext uri="{FF2B5EF4-FFF2-40B4-BE49-F238E27FC236}">
                <a16:creationId xmlns:a16="http://schemas.microsoft.com/office/drawing/2014/main" id="{BEB6E4C7-3CC4-4DBC-BE86-C56EC2C9C6DF}"/>
              </a:ext>
            </a:extLst>
          </p:cNvPr>
          <p:cNvSpPr>
            <a:spLocks noGrp="1"/>
          </p:cNvSpPr>
          <p:nvPr/>
        </p:nvSpPr>
        <p:spPr>
          <a:xfrm>
            <a:off x="1352550" y="2628900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Summary / checkpoint</a:t>
            </a:r>
          </a:p>
        </p:txBody>
      </p:sp>
      <p:sp>
        <p:nvSpPr>
          <p:cNvPr id="11" name="strategy-purpose-1">
            <a:extLst>
              <a:ext uri="{FF2B5EF4-FFF2-40B4-BE49-F238E27FC236}">
                <a16:creationId xmlns:a16="http://schemas.microsoft.com/office/drawing/2014/main" id="{53832DD3-EE28-4D2A-A333-C8E7B59AA13A}"/>
              </a:ext>
            </a:extLst>
          </p:cNvPr>
          <p:cNvSpPr>
            <a:spLocks noGrp="1"/>
          </p:cNvSpPr>
          <p:nvPr/>
        </p:nvSpPr>
        <p:spPr>
          <a:xfrm>
            <a:off x="5810250" y="2667000"/>
            <a:ext cx="457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Compact and resume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BAEF36EA-4A7E-415D-959E-6FDF7C76B5F4}"/>
              </a:ext>
            </a:extLst>
          </p:cNvPr>
          <p:cNvSpPr>
            <a:spLocks noGrp="1"/>
          </p:cNvSpPr>
          <p:nvPr/>
        </p:nvSpPr>
        <p:spPr>
          <a:xfrm>
            <a:off x="457200" y="3152775"/>
            <a:ext cx="111252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trategy-num-2">
            <a:extLst>
              <a:ext uri="{FF2B5EF4-FFF2-40B4-BE49-F238E27FC236}">
                <a16:creationId xmlns:a16="http://schemas.microsoft.com/office/drawing/2014/main" id="{2B2A9B10-8078-45A7-9043-140D50376B3D}"/>
              </a:ext>
            </a:extLst>
          </p:cNvPr>
          <p:cNvSpPr>
            <a:spLocks noGrp="1"/>
          </p:cNvSpPr>
          <p:nvPr/>
        </p:nvSpPr>
        <p:spPr>
          <a:xfrm>
            <a:off x="457200" y="340995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strategy-name-2">
            <a:extLst>
              <a:ext uri="{FF2B5EF4-FFF2-40B4-BE49-F238E27FC236}">
                <a16:creationId xmlns:a16="http://schemas.microsoft.com/office/drawing/2014/main" id="{60499946-F55C-4D0B-AAD5-AF1C9CC36DCB}"/>
              </a:ext>
            </a:extLst>
          </p:cNvPr>
          <p:cNvSpPr>
            <a:spLocks noGrp="1"/>
          </p:cNvSpPr>
          <p:nvPr/>
        </p:nvSpPr>
        <p:spPr>
          <a:xfrm>
            <a:off x="1352550" y="3371850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Profile / collection</a:t>
            </a:r>
          </a:p>
        </p:txBody>
      </p:sp>
      <p:sp>
        <p:nvSpPr>
          <p:cNvPr id="15" name="strategy-purpose-2">
            <a:extLst>
              <a:ext uri="{FF2B5EF4-FFF2-40B4-BE49-F238E27FC236}">
                <a16:creationId xmlns:a16="http://schemas.microsoft.com/office/drawing/2014/main" id="{35527836-3143-482C-8405-FC6E47F3C304}"/>
              </a:ext>
            </a:extLst>
          </p:cNvPr>
          <p:cNvSpPr>
            <a:spLocks noGrp="1"/>
          </p:cNvSpPr>
          <p:nvPr/>
        </p:nvSpPr>
        <p:spPr>
          <a:xfrm>
            <a:off x="5810250" y="3409950"/>
            <a:ext cx="457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Store durable facts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978AEBAE-1FB1-43C9-88A8-DDF1F9E5A2A8}"/>
              </a:ext>
            </a:extLst>
          </p:cNvPr>
          <p:cNvSpPr>
            <a:spLocks noGrp="1"/>
          </p:cNvSpPr>
          <p:nvPr/>
        </p:nvSpPr>
        <p:spPr>
          <a:xfrm>
            <a:off x="457200" y="3895725"/>
            <a:ext cx="111252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trategy-num-3">
            <a:extLst>
              <a:ext uri="{FF2B5EF4-FFF2-40B4-BE49-F238E27FC236}">
                <a16:creationId xmlns:a16="http://schemas.microsoft.com/office/drawing/2014/main" id="{2B415DE3-B42F-44E2-BE20-8C822A613831}"/>
              </a:ext>
            </a:extLst>
          </p:cNvPr>
          <p:cNvSpPr>
            <a:spLocks noGrp="1"/>
          </p:cNvSpPr>
          <p:nvPr/>
        </p:nvSpPr>
        <p:spPr>
          <a:xfrm>
            <a:off x="457200" y="415290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strategy-name-3">
            <a:extLst>
              <a:ext uri="{FF2B5EF4-FFF2-40B4-BE49-F238E27FC236}">
                <a16:creationId xmlns:a16="http://schemas.microsoft.com/office/drawing/2014/main" id="{CFBDAF65-D211-4BA8-A876-CE5CA8ADCC13}"/>
              </a:ext>
            </a:extLst>
          </p:cNvPr>
          <p:cNvSpPr>
            <a:spLocks noGrp="1"/>
          </p:cNvSpPr>
          <p:nvPr/>
        </p:nvSpPr>
        <p:spPr>
          <a:xfrm>
            <a:off x="1352550" y="4114800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Episodes / procedures</a:t>
            </a:r>
          </a:p>
        </p:txBody>
      </p:sp>
      <p:sp>
        <p:nvSpPr>
          <p:cNvPr id="19" name="strategy-purpose-3">
            <a:extLst>
              <a:ext uri="{FF2B5EF4-FFF2-40B4-BE49-F238E27FC236}">
                <a16:creationId xmlns:a16="http://schemas.microsoft.com/office/drawing/2014/main" id="{789D41DA-E257-4E6A-8FB1-04E89DFB67B8}"/>
              </a:ext>
            </a:extLst>
          </p:cNvPr>
          <p:cNvSpPr>
            <a:spLocks noGrp="1"/>
          </p:cNvSpPr>
          <p:nvPr/>
        </p:nvSpPr>
        <p:spPr>
          <a:xfrm>
            <a:off x="5810250" y="4152900"/>
            <a:ext cx="457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Reuse experience and rules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298D2C1-C240-4FA7-B617-91D9C48B4B9D}"/>
              </a:ext>
            </a:extLst>
          </p:cNvPr>
          <p:cNvSpPr>
            <a:spLocks noGrp="1"/>
          </p:cNvSpPr>
          <p:nvPr/>
        </p:nvSpPr>
        <p:spPr>
          <a:xfrm>
            <a:off x="457200" y="4638675"/>
            <a:ext cx="111252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trategy-num-4">
            <a:extLst>
              <a:ext uri="{FF2B5EF4-FFF2-40B4-BE49-F238E27FC236}">
                <a16:creationId xmlns:a16="http://schemas.microsoft.com/office/drawing/2014/main" id="{16AA12DD-714D-4540-8929-E9199D3E0E63}"/>
              </a:ext>
            </a:extLst>
          </p:cNvPr>
          <p:cNvSpPr>
            <a:spLocks noGrp="1"/>
          </p:cNvSpPr>
          <p:nvPr/>
        </p:nvSpPr>
        <p:spPr>
          <a:xfrm>
            <a:off x="457200" y="489585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2" name="strategy-name-4">
            <a:extLst>
              <a:ext uri="{FF2B5EF4-FFF2-40B4-BE49-F238E27FC236}">
                <a16:creationId xmlns:a16="http://schemas.microsoft.com/office/drawing/2014/main" id="{20B85D09-0A65-40ED-AA8F-A8EF86A5E7FB}"/>
              </a:ext>
            </a:extLst>
          </p:cNvPr>
          <p:cNvSpPr>
            <a:spLocks noGrp="1"/>
          </p:cNvSpPr>
          <p:nvPr/>
        </p:nvSpPr>
        <p:spPr>
          <a:xfrm>
            <a:off x="1352550" y="4857750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Consolidate / forget</a:t>
            </a:r>
          </a:p>
        </p:txBody>
      </p:sp>
      <p:sp>
        <p:nvSpPr>
          <p:cNvPr id="23" name="strategy-purpose-4">
            <a:extLst>
              <a:ext uri="{FF2B5EF4-FFF2-40B4-BE49-F238E27FC236}">
                <a16:creationId xmlns:a16="http://schemas.microsoft.com/office/drawing/2014/main" id="{26AD8FBF-D118-48A5-98FD-7967DBA7CB94}"/>
              </a:ext>
            </a:extLst>
          </p:cNvPr>
          <p:cNvSpPr>
            <a:spLocks noGrp="1"/>
          </p:cNvSpPr>
          <p:nvPr/>
        </p:nvSpPr>
        <p:spPr>
          <a:xfrm>
            <a:off x="5810250" y="4895850"/>
            <a:ext cx="457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Control growth and staleness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0B43CA2-A342-44A1-A630-A43F542FFB36}"/>
              </a:ext>
            </a:extLst>
          </p:cNvPr>
          <p:cNvSpPr>
            <a:spLocks noGrp="1"/>
          </p:cNvSpPr>
          <p:nvPr/>
        </p:nvSpPr>
        <p:spPr>
          <a:xfrm>
            <a:off x="457200" y="5381625"/>
            <a:ext cx="111252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62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yebrow-7">
            <a:extLst>
              <a:ext uri="{FF2B5EF4-FFF2-40B4-BE49-F238E27FC236}">
                <a16:creationId xmlns:a16="http://schemas.microsoft.com/office/drawing/2014/main" id="{AE8DA562-11C4-4023-9BEF-4668F4092CFC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GOVERNED PERSISTENT MEMORY</a:t>
            </a:r>
          </a:p>
        </p:txBody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786935FE-A02B-4A2D-8E66-798266981308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110966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Short-term memory is bounded thread state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07CC6B6F-FCB1-48EC-AAAE-CA9EE033AE7C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11252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7">
            <a:extLst>
              <a:ext uri="{FF2B5EF4-FFF2-40B4-BE49-F238E27FC236}">
                <a16:creationId xmlns:a16="http://schemas.microsoft.com/office/drawing/2014/main" id="{D41EAB3E-73E7-4715-B805-7A374E59D8DF}"/>
              </a:ext>
            </a:extLst>
          </p:cNvPr>
          <p:cNvSpPr>
            <a:spLocks noGrp="1"/>
          </p:cNvSpPr>
          <p:nvPr/>
        </p:nvSpPr>
        <p:spPr>
          <a:xfrm>
            <a:off x="11182350" y="64103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label-bg-Keep-48">
            <a:extLst>
              <a:ext uri="{FF2B5EF4-FFF2-40B4-BE49-F238E27FC236}">
                <a16:creationId xmlns:a16="http://schemas.microsoft.com/office/drawing/2014/main" id="{F70F9F64-E182-4CB8-85FD-33317B33C930}"/>
              </a:ext>
            </a:extLst>
          </p:cNvPr>
          <p:cNvSpPr>
            <a:spLocks noGrp="1"/>
          </p:cNvSpPr>
          <p:nvPr/>
        </p:nvSpPr>
        <p:spPr>
          <a:xfrm>
            <a:off x="457200" y="1885950"/>
            <a:ext cx="914400" cy="285750"/>
          </a:xfrm>
          <a:prstGeom prst="rect">
            <a:avLst/>
          </a:prstGeom>
          <a:solidFill>
            <a:srgbClr val="137A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label-Keep-48">
            <a:extLst>
              <a:ext uri="{FF2B5EF4-FFF2-40B4-BE49-F238E27FC236}">
                <a16:creationId xmlns:a16="http://schemas.microsoft.com/office/drawing/2014/main" id="{8C618310-795B-4E3A-869C-70E3662E66BD}"/>
              </a:ext>
            </a:extLst>
          </p:cNvPr>
          <p:cNvSpPr>
            <a:spLocks noGrp="1"/>
          </p:cNvSpPr>
          <p:nvPr/>
        </p:nvSpPr>
        <p:spPr>
          <a:xfrm>
            <a:off x="552450" y="1943100"/>
            <a:ext cx="723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KEEP</a:t>
            </a:r>
          </a:p>
        </p:txBody>
      </p:sp>
      <p:sp>
        <p:nvSpPr>
          <p:cNvPr id="7" name="stm-keep">
            <a:extLst>
              <a:ext uri="{FF2B5EF4-FFF2-40B4-BE49-F238E27FC236}">
                <a16:creationId xmlns:a16="http://schemas.microsoft.com/office/drawing/2014/main" id="{C9FA2984-D1AC-4517-8B19-95551137B339}"/>
              </a:ext>
            </a:extLst>
          </p:cNvPr>
          <p:cNvSpPr>
            <a:spLocks noGrp="1"/>
          </p:cNvSpPr>
          <p:nvPr/>
        </p:nvSpPr>
        <p:spPr>
          <a:xfrm>
            <a:off x="457200" y="2381250"/>
            <a:ext cx="40957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Recent turns</a:t>
            </a:r>
          </a:p>
          <a:p>
            <a:pPr algn="l">
              <a:defRPr sz="20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Current goal</a:t>
            </a:r>
          </a:p>
          <a:p>
            <a:pPr algn="l">
              <a:defRPr sz="20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Pending tool/approval state</a:t>
            </a:r>
          </a:p>
          <a:p>
            <a:pPr algn="l">
              <a:defRPr sz="20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Resume cursor</a:t>
            </a:r>
          </a:p>
        </p:txBody>
      </p:sp>
      <p:sp>
        <p:nvSpPr>
          <p:cNvPr id="8" name="label-bg-Compress-516">
            <a:extLst>
              <a:ext uri="{FF2B5EF4-FFF2-40B4-BE49-F238E27FC236}">
                <a16:creationId xmlns:a16="http://schemas.microsoft.com/office/drawing/2014/main" id="{C2C77AA4-5CD3-4CE8-ABBA-E7A0166A0BB9}"/>
              </a:ext>
            </a:extLst>
          </p:cNvPr>
          <p:cNvSpPr>
            <a:spLocks noGrp="1"/>
          </p:cNvSpPr>
          <p:nvPr/>
        </p:nvSpPr>
        <p:spPr>
          <a:xfrm>
            <a:off x="4914900" y="1885950"/>
            <a:ext cx="1143000" cy="2857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label-Compress-516">
            <a:extLst>
              <a:ext uri="{FF2B5EF4-FFF2-40B4-BE49-F238E27FC236}">
                <a16:creationId xmlns:a16="http://schemas.microsoft.com/office/drawing/2014/main" id="{52EAE46D-A832-4319-AD34-16A6B09D4F2A}"/>
              </a:ext>
            </a:extLst>
          </p:cNvPr>
          <p:cNvSpPr>
            <a:spLocks noGrp="1"/>
          </p:cNvSpPr>
          <p:nvPr/>
        </p:nvSpPr>
        <p:spPr>
          <a:xfrm>
            <a:off x="5010150" y="194310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COMPRESS</a:t>
            </a:r>
          </a:p>
        </p:txBody>
      </p:sp>
      <p:sp>
        <p:nvSpPr>
          <p:cNvPr id="10" name="stm-compress">
            <a:extLst>
              <a:ext uri="{FF2B5EF4-FFF2-40B4-BE49-F238E27FC236}">
                <a16:creationId xmlns:a16="http://schemas.microsoft.com/office/drawing/2014/main" id="{3E25675C-6803-42E2-9642-8A355139132C}"/>
              </a:ext>
            </a:extLst>
          </p:cNvPr>
          <p:cNvSpPr>
            <a:spLocks noGrp="1"/>
          </p:cNvSpPr>
          <p:nvPr/>
        </p:nvSpPr>
        <p:spPr>
          <a:xfrm>
            <a:off x="4914900" y="2381250"/>
            <a:ext cx="6191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Evicted turns → versioned summary</a:t>
            </a:r>
          </a:p>
          <a:p>
            <a:pPr algn="l">
              <a:defRPr sz="18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Preserve corrections and unresolved work</a:t>
            </a:r>
          </a:p>
          <a:p>
            <a:pPr algn="l">
              <a:defRPr sz="18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Evaluate summary faithfulness</a:t>
            </a:r>
          </a:p>
        </p:txBody>
      </p:sp>
      <p:sp>
        <p:nvSpPr>
          <p:cNvPr id="11" name="stm-law">
            <a:extLst>
              <a:ext uri="{FF2B5EF4-FFF2-40B4-BE49-F238E27FC236}">
                <a16:creationId xmlns:a16="http://schemas.microsoft.com/office/drawing/2014/main" id="{651CFD12-EAB2-42C5-810B-1E6634166CB6}"/>
              </a:ext>
            </a:extLst>
          </p:cNvPr>
          <p:cNvSpPr>
            <a:spLocks noGrp="1"/>
          </p:cNvSpPr>
          <p:nvPr/>
        </p:nvSpPr>
        <p:spPr>
          <a:xfrm>
            <a:off x="4914900" y="4514850"/>
            <a:ext cx="6191250" cy="990600"/>
          </a:xfrm>
          <a:prstGeom prst="rect">
            <a:avLst/>
          </a:prstGeom>
          <a:solidFill>
            <a:srgbClr val="D0ED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m-law-text">
            <a:extLst>
              <a:ext uri="{FF2B5EF4-FFF2-40B4-BE49-F238E27FC236}">
                <a16:creationId xmlns:a16="http://schemas.microsoft.com/office/drawing/2014/main" id="{FC7340AB-5B8E-4830-90CF-6A4F6C11A05E}"/>
              </a:ext>
            </a:extLst>
          </p:cNvPr>
          <p:cNvSpPr>
            <a:spLocks noGrp="1"/>
          </p:cNvSpPr>
          <p:nvPr/>
        </p:nvSpPr>
        <p:spPr>
          <a:xfrm>
            <a:off x="5162550" y="4733925"/>
            <a:ext cx="5715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974"/>
          </a:bodyPr>
          <a:lstStyle/>
          <a:p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A checkpoint preserves execution.</a:t>
            </a:r>
          </a:p>
          <a:p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It does not automatically become long-term knowledge.</a:t>
            </a:r>
          </a:p>
        </p:txBody>
      </p:sp>
    </p:spTree>
    <p:extLst>
      <p:ext uri="{BB962C8B-B14F-4D97-AF65-F5344CB8AC3E}">
        <p14:creationId xmlns:p14="http://schemas.microsoft.com/office/powerpoint/2010/main" val="1654233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yebrow-8">
            <a:extLst>
              <a:ext uri="{FF2B5EF4-FFF2-40B4-BE49-F238E27FC236}">
                <a16:creationId xmlns:a16="http://schemas.microsoft.com/office/drawing/2014/main" id="{5DE05D53-7780-4669-93A2-DE2FD56457E7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GOVERNED PERSISTENT MEMORY</a:t>
            </a:r>
          </a:p>
        </p:txBody>
      </p:sp>
      <p:sp>
        <p:nvSpPr>
          <p:cNvPr id="2" name="title-8">
            <a:extLst>
              <a:ext uri="{FF2B5EF4-FFF2-40B4-BE49-F238E27FC236}">
                <a16:creationId xmlns:a16="http://schemas.microsoft.com/office/drawing/2014/main" id="{213E4D3C-AFC0-42B0-8186-F8BAA9433348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110966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Long-term strategies encode different kinds of reuse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944B2C69-BD34-4EF5-9A5D-033539A14097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11252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8">
            <a:extLst>
              <a:ext uri="{FF2B5EF4-FFF2-40B4-BE49-F238E27FC236}">
                <a16:creationId xmlns:a16="http://schemas.microsoft.com/office/drawing/2014/main" id="{96303484-192F-4833-88F4-BAF3FADD2365}"/>
              </a:ext>
            </a:extLst>
          </p:cNvPr>
          <p:cNvSpPr>
            <a:spLocks noGrp="1"/>
          </p:cNvSpPr>
          <p:nvPr/>
        </p:nvSpPr>
        <p:spPr>
          <a:xfrm>
            <a:off x="11182350" y="64103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ltm-name-0">
            <a:extLst>
              <a:ext uri="{FF2B5EF4-FFF2-40B4-BE49-F238E27FC236}">
                <a16:creationId xmlns:a16="http://schemas.microsoft.com/office/drawing/2014/main" id="{BAE949C2-774F-4C1D-8ED8-0A63283345CC}"/>
              </a:ext>
            </a:extLst>
          </p:cNvPr>
          <p:cNvSpPr>
            <a:spLocks noGrp="1"/>
          </p:cNvSpPr>
          <p:nvPr/>
        </p:nvSpPr>
        <p:spPr>
          <a:xfrm>
            <a:off x="457200" y="1981200"/>
            <a:ext cx="266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Semantic profile</a:t>
            </a:r>
          </a:p>
        </p:txBody>
      </p:sp>
      <p:sp>
        <p:nvSpPr>
          <p:cNvPr id="6" name="ltm-use-0">
            <a:extLst>
              <a:ext uri="{FF2B5EF4-FFF2-40B4-BE49-F238E27FC236}">
                <a16:creationId xmlns:a16="http://schemas.microsoft.com/office/drawing/2014/main" id="{EC9BEE93-96DA-4816-88F0-1EA51C79F444}"/>
              </a:ext>
            </a:extLst>
          </p:cNvPr>
          <p:cNvSpPr>
            <a:spLocks noGrp="1"/>
          </p:cNvSpPr>
          <p:nvPr/>
        </p:nvSpPr>
        <p:spPr>
          <a:xfrm>
            <a:off x="3543300" y="1981200"/>
            <a:ext cx="323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Few canonical fields</a:t>
            </a:r>
          </a:p>
        </p:txBody>
      </p:sp>
      <p:sp>
        <p:nvSpPr>
          <p:cNvPr id="7" name="ltm-control-0">
            <a:extLst>
              <a:ext uri="{FF2B5EF4-FFF2-40B4-BE49-F238E27FC236}">
                <a16:creationId xmlns:a16="http://schemas.microsoft.com/office/drawing/2014/main" id="{DF5EDC83-7675-4A7B-84EA-BA999FD975F8}"/>
              </a:ext>
            </a:extLst>
          </p:cNvPr>
          <p:cNvSpPr>
            <a:spLocks noGrp="1"/>
          </p:cNvSpPr>
          <p:nvPr/>
        </p:nvSpPr>
        <p:spPr>
          <a:xfrm>
            <a:off x="7543800" y="1981200"/>
            <a:ext cx="3524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field conflict rules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F9AFD593-B6B8-4467-B03E-36B8947A6719}"/>
              </a:ext>
            </a:extLst>
          </p:cNvPr>
          <p:cNvSpPr>
            <a:spLocks noGrp="1"/>
          </p:cNvSpPr>
          <p:nvPr/>
        </p:nvSpPr>
        <p:spPr>
          <a:xfrm>
            <a:off x="457200" y="2524125"/>
            <a:ext cx="111252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ltm-name-1">
            <a:extLst>
              <a:ext uri="{FF2B5EF4-FFF2-40B4-BE49-F238E27FC236}">
                <a16:creationId xmlns:a16="http://schemas.microsoft.com/office/drawing/2014/main" id="{C42438BA-AF01-44E2-813C-A24EE9F456D5}"/>
              </a:ext>
            </a:extLst>
          </p:cNvPr>
          <p:cNvSpPr>
            <a:spLocks noGrp="1"/>
          </p:cNvSpPr>
          <p:nvPr/>
        </p:nvSpPr>
        <p:spPr>
          <a:xfrm>
            <a:off x="457200" y="2857500"/>
            <a:ext cx="266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Semantic collection</a:t>
            </a:r>
          </a:p>
        </p:txBody>
      </p:sp>
      <p:sp>
        <p:nvSpPr>
          <p:cNvPr id="10" name="ltm-use-1">
            <a:extLst>
              <a:ext uri="{FF2B5EF4-FFF2-40B4-BE49-F238E27FC236}">
                <a16:creationId xmlns:a16="http://schemas.microsoft.com/office/drawing/2014/main" id="{610C2311-6A20-4AA5-B185-4A0CA863741E}"/>
              </a:ext>
            </a:extLst>
          </p:cNvPr>
          <p:cNvSpPr>
            <a:spLocks noGrp="1"/>
          </p:cNvSpPr>
          <p:nvPr/>
        </p:nvSpPr>
        <p:spPr>
          <a:xfrm>
            <a:off x="3543300" y="2857500"/>
            <a:ext cx="323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Many independent facts</a:t>
            </a:r>
          </a:p>
        </p:txBody>
      </p:sp>
      <p:sp>
        <p:nvSpPr>
          <p:cNvPr id="11" name="ltm-control-1">
            <a:extLst>
              <a:ext uri="{FF2B5EF4-FFF2-40B4-BE49-F238E27FC236}">
                <a16:creationId xmlns:a16="http://schemas.microsoft.com/office/drawing/2014/main" id="{681477BA-E097-47F4-836B-ED427875D98F}"/>
              </a:ext>
            </a:extLst>
          </p:cNvPr>
          <p:cNvSpPr>
            <a:spLocks noGrp="1"/>
          </p:cNvSpPr>
          <p:nvPr/>
        </p:nvSpPr>
        <p:spPr>
          <a:xfrm>
            <a:off x="7543800" y="2857500"/>
            <a:ext cx="3524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dedup + retrieval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7CE2EC4D-F46C-4562-816A-4ADD5CA1BFEF}"/>
              </a:ext>
            </a:extLst>
          </p:cNvPr>
          <p:cNvSpPr>
            <a:spLocks noGrp="1"/>
          </p:cNvSpPr>
          <p:nvPr/>
        </p:nvSpPr>
        <p:spPr>
          <a:xfrm>
            <a:off x="457200" y="3400425"/>
            <a:ext cx="111252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tm-name-2">
            <a:extLst>
              <a:ext uri="{FF2B5EF4-FFF2-40B4-BE49-F238E27FC236}">
                <a16:creationId xmlns:a16="http://schemas.microsoft.com/office/drawing/2014/main" id="{8AEAF830-4B2D-4614-B35F-DD5F8860C1FC}"/>
              </a:ext>
            </a:extLst>
          </p:cNvPr>
          <p:cNvSpPr>
            <a:spLocks noGrp="1"/>
          </p:cNvSpPr>
          <p:nvPr/>
        </p:nvSpPr>
        <p:spPr>
          <a:xfrm>
            <a:off x="457200" y="3733800"/>
            <a:ext cx="266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Episodic</a:t>
            </a:r>
          </a:p>
        </p:txBody>
      </p:sp>
      <p:sp>
        <p:nvSpPr>
          <p:cNvPr id="14" name="ltm-use-2">
            <a:extLst>
              <a:ext uri="{FF2B5EF4-FFF2-40B4-BE49-F238E27FC236}">
                <a16:creationId xmlns:a16="http://schemas.microsoft.com/office/drawing/2014/main" id="{9390E64D-F7CB-4E30-8EDA-C58BF9B3257B}"/>
              </a:ext>
            </a:extLst>
          </p:cNvPr>
          <p:cNvSpPr>
            <a:spLocks noGrp="1"/>
          </p:cNvSpPr>
          <p:nvPr/>
        </p:nvSpPr>
        <p:spPr>
          <a:xfrm>
            <a:off x="3543300" y="3733800"/>
            <a:ext cx="323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Past actions + outcomes</a:t>
            </a:r>
          </a:p>
        </p:txBody>
      </p:sp>
      <p:sp>
        <p:nvSpPr>
          <p:cNvPr id="15" name="ltm-control-2">
            <a:extLst>
              <a:ext uri="{FF2B5EF4-FFF2-40B4-BE49-F238E27FC236}">
                <a16:creationId xmlns:a16="http://schemas.microsoft.com/office/drawing/2014/main" id="{8398F626-54EF-4E7C-8FC0-00B184D2E134}"/>
              </a:ext>
            </a:extLst>
          </p:cNvPr>
          <p:cNvSpPr>
            <a:spLocks noGrp="1"/>
          </p:cNvSpPr>
          <p:nvPr/>
        </p:nvSpPr>
        <p:spPr>
          <a:xfrm>
            <a:off x="7543800" y="3733800"/>
            <a:ext cx="3524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version + outcome filters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DD143ECA-3778-4578-88B2-6FA8EF2BBF2D}"/>
              </a:ext>
            </a:extLst>
          </p:cNvPr>
          <p:cNvSpPr>
            <a:spLocks noGrp="1"/>
          </p:cNvSpPr>
          <p:nvPr/>
        </p:nvSpPr>
        <p:spPr>
          <a:xfrm>
            <a:off x="457200" y="4276725"/>
            <a:ext cx="111252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ltm-name-3">
            <a:extLst>
              <a:ext uri="{FF2B5EF4-FFF2-40B4-BE49-F238E27FC236}">
                <a16:creationId xmlns:a16="http://schemas.microsoft.com/office/drawing/2014/main" id="{7B62B856-57AF-41B2-9A2C-ACD105CD337D}"/>
              </a:ext>
            </a:extLst>
          </p:cNvPr>
          <p:cNvSpPr>
            <a:spLocks noGrp="1"/>
          </p:cNvSpPr>
          <p:nvPr/>
        </p:nvSpPr>
        <p:spPr>
          <a:xfrm>
            <a:off x="457200" y="4610100"/>
            <a:ext cx="266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Procedural</a:t>
            </a:r>
          </a:p>
        </p:txBody>
      </p:sp>
      <p:sp>
        <p:nvSpPr>
          <p:cNvPr id="18" name="ltm-use-3">
            <a:extLst>
              <a:ext uri="{FF2B5EF4-FFF2-40B4-BE49-F238E27FC236}">
                <a16:creationId xmlns:a16="http://schemas.microsoft.com/office/drawing/2014/main" id="{A5EA8F45-44DB-4E56-A656-FE01800405E1}"/>
              </a:ext>
            </a:extLst>
          </p:cNvPr>
          <p:cNvSpPr>
            <a:spLocks noGrp="1"/>
          </p:cNvSpPr>
          <p:nvPr/>
        </p:nvSpPr>
        <p:spPr>
          <a:xfrm>
            <a:off x="3543300" y="4610100"/>
            <a:ext cx="323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Rules and playbooks</a:t>
            </a:r>
          </a:p>
        </p:txBody>
      </p:sp>
      <p:sp>
        <p:nvSpPr>
          <p:cNvPr id="19" name="ltm-control-3">
            <a:extLst>
              <a:ext uri="{FF2B5EF4-FFF2-40B4-BE49-F238E27FC236}">
                <a16:creationId xmlns:a16="http://schemas.microsoft.com/office/drawing/2014/main" id="{7BC82C48-A956-45BD-A48F-74190DF46633}"/>
              </a:ext>
            </a:extLst>
          </p:cNvPr>
          <p:cNvSpPr>
            <a:spLocks noGrp="1"/>
          </p:cNvSpPr>
          <p:nvPr/>
        </p:nvSpPr>
        <p:spPr>
          <a:xfrm>
            <a:off x="7543800" y="4610100"/>
            <a:ext cx="3524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review + evaluation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2545498D-A26E-45F6-B0CA-A65F8D98E561}"/>
              </a:ext>
            </a:extLst>
          </p:cNvPr>
          <p:cNvSpPr>
            <a:spLocks noGrp="1"/>
          </p:cNvSpPr>
          <p:nvPr/>
        </p:nvSpPr>
        <p:spPr>
          <a:xfrm>
            <a:off x="457200" y="5153025"/>
            <a:ext cx="111252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ltm-note">
            <a:extLst>
              <a:ext uri="{FF2B5EF4-FFF2-40B4-BE49-F238E27FC236}">
                <a16:creationId xmlns:a16="http://schemas.microsoft.com/office/drawing/2014/main" id="{5D8D627C-A9F6-4226-9483-C8B0B0D534D6}"/>
              </a:ext>
            </a:extLst>
          </p:cNvPr>
          <p:cNvSpPr>
            <a:spLocks noGrp="1"/>
          </p:cNvSpPr>
          <p:nvPr/>
        </p:nvSpPr>
        <p:spPr>
          <a:xfrm>
            <a:off x="457200" y="573405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Entity and organizational memory add publication, identity resolution, and broader access risk.</a:t>
            </a:r>
          </a:p>
        </p:txBody>
      </p:sp>
    </p:spTree>
    <p:extLst>
      <p:ext uri="{BB962C8B-B14F-4D97-AF65-F5344CB8AC3E}">
        <p14:creationId xmlns:p14="http://schemas.microsoft.com/office/powerpoint/2010/main" val="894377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yebrow-9">
            <a:extLst>
              <a:ext uri="{FF2B5EF4-FFF2-40B4-BE49-F238E27FC236}">
                <a16:creationId xmlns:a16="http://schemas.microsoft.com/office/drawing/2014/main" id="{EFB35DD6-5732-4A7B-A096-AFDD1A45F360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GOVERNED PERSISTENT MEMORY</a:t>
            </a:r>
          </a:p>
        </p:txBody>
      </p:sp>
      <p:sp>
        <p:nvSpPr>
          <p:cNvPr id="2" name="title-9">
            <a:extLst>
              <a:ext uri="{FF2B5EF4-FFF2-40B4-BE49-F238E27FC236}">
                <a16:creationId xmlns:a16="http://schemas.microsoft.com/office/drawing/2014/main" id="{9227A2B8-D3AD-4779-999B-6A6EC6A7F54D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110966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500"/>
          </a:bodyPr>
          <a:lstStyle/>
          <a:p>
            <a:pPr algn="l">
              <a:def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Immediate writes and background consolidation solve different problems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80363A81-B08A-4013-8D53-2F52504F8F6C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11252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9">
            <a:extLst>
              <a:ext uri="{FF2B5EF4-FFF2-40B4-BE49-F238E27FC236}">
                <a16:creationId xmlns:a16="http://schemas.microsoft.com/office/drawing/2014/main" id="{4D67A446-E4F1-4452-9659-52577483D34B}"/>
              </a:ext>
            </a:extLst>
          </p:cNvPr>
          <p:cNvSpPr>
            <a:spLocks noGrp="1"/>
          </p:cNvSpPr>
          <p:nvPr/>
        </p:nvSpPr>
        <p:spPr>
          <a:xfrm>
            <a:off x="11182350" y="64103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hot-head">
            <a:extLst>
              <a:ext uri="{FF2B5EF4-FFF2-40B4-BE49-F238E27FC236}">
                <a16:creationId xmlns:a16="http://schemas.microsoft.com/office/drawing/2014/main" id="{B217DB76-BAD6-479C-A223-32D14CD8EB87}"/>
              </a:ext>
            </a:extLst>
          </p:cNvPr>
          <p:cNvSpPr>
            <a:spLocks noGrp="1"/>
          </p:cNvSpPr>
          <p:nvPr/>
        </p:nvSpPr>
        <p:spPr>
          <a:xfrm>
            <a:off x="457200" y="195262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HOT PATH</a:t>
            </a:r>
          </a:p>
        </p:txBody>
      </p:sp>
      <p:sp>
        <p:nvSpPr>
          <p:cNvPr id="6" name="hot-body">
            <a:extLst>
              <a:ext uri="{FF2B5EF4-FFF2-40B4-BE49-F238E27FC236}">
                <a16:creationId xmlns:a16="http://schemas.microsoft.com/office/drawing/2014/main" id="{A2EADF53-DE5D-4B00-A7D4-3E6007B31A72}"/>
              </a:ext>
            </a:extLst>
          </p:cNvPr>
          <p:cNvSpPr>
            <a:spLocks noGrp="1"/>
          </p:cNvSpPr>
          <p:nvPr/>
        </p:nvSpPr>
        <p:spPr>
          <a:xfrm>
            <a:off x="457200" y="2438400"/>
            <a:ext cx="4000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Available immediately</a:t>
            </a:r>
          </a:p>
          <a:p>
            <a:pPr algn="l">
              <a:defRPr sz="20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Visible to the user</a:t>
            </a:r>
          </a:p>
          <a:p>
            <a:pPr algn="l">
              <a:defRPr sz="20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Adds response latency</a:t>
            </a:r>
          </a:p>
          <a:p>
            <a:pPr algn="l">
              <a:defRPr sz="20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Agent must multitask</a:t>
            </a:r>
          </a:p>
        </p:txBody>
      </p:sp>
      <p:sp>
        <p:nvSpPr>
          <p:cNvPr id="7" name="bg-head">
            <a:extLst>
              <a:ext uri="{FF2B5EF4-FFF2-40B4-BE49-F238E27FC236}">
                <a16:creationId xmlns:a16="http://schemas.microsoft.com/office/drawing/2014/main" id="{36947CF6-B7E9-4716-BD48-1CF00DDD72A8}"/>
              </a:ext>
            </a:extLst>
          </p:cNvPr>
          <p:cNvSpPr>
            <a:spLocks noGrp="1"/>
          </p:cNvSpPr>
          <p:nvPr/>
        </p:nvSpPr>
        <p:spPr>
          <a:xfrm>
            <a:off x="6286500" y="195262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BACKGROUND</a:t>
            </a:r>
          </a:p>
        </p:txBody>
      </p:sp>
      <p:sp>
        <p:nvSpPr>
          <p:cNvPr id="8" name="bg-body">
            <a:extLst>
              <a:ext uri="{FF2B5EF4-FFF2-40B4-BE49-F238E27FC236}">
                <a16:creationId xmlns:a16="http://schemas.microsoft.com/office/drawing/2014/main" id="{A7D8EB3A-F716-4DC0-A4F8-53251EF17CEA}"/>
              </a:ext>
            </a:extLst>
          </p:cNvPr>
          <p:cNvSpPr>
            <a:spLocks noGrp="1"/>
          </p:cNvSpPr>
          <p:nvPr/>
        </p:nvSpPr>
        <p:spPr>
          <a:xfrm>
            <a:off x="6286500" y="2438400"/>
            <a:ext cx="4762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No response-path latency</a:t>
            </a:r>
          </a:p>
          <a:p>
            <a:pPr algn="l">
              <a:defRPr sz="20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Cross-session synthesis</a:t>
            </a:r>
          </a:p>
          <a:p>
            <a:pPr algn="l">
              <a:defRPr sz="20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Eventual consistency</a:t>
            </a:r>
          </a:p>
          <a:p>
            <a:pPr algn="l">
              <a:defRPr sz="20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Needs idempotency + replay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22C8AF35-C7DC-40B9-9ECA-8CC8B499AA25}"/>
              </a:ext>
            </a:extLst>
          </p:cNvPr>
          <p:cNvSpPr>
            <a:spLocks noGrp="1"/>
          </p:cNvSpPr>
          <p:nvPr/>
        </p:nvSpPr>
        <p:spPr>
          <a:xfrm>
            <a:off x="5524500" y="1885950"/>
            <a:ext cx="0" cy="333375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write-choice">
            <a:extLst>
              <a:ext uri="{FF2B5EF4-FFF2-40B4-BE49-F238E27FC236}">
                <a16:creationId xmlns:a16="http://schemas.microsoft.com/office/drawing/2014/main" id="{FE57FFD4-300B-4E96-A14C-C529F9C73562}"/>
              </a:ext>
            </a:extLst>
          </p:cNvPr>
          <p:cNvSpPr>
            <a:spLocks noGrp="1"/>
          </p:cNvSpPr>
          <p:nvPr/>
        </p:nvSpPr>
        <p:spPr>
          <a:xfrm>
            <a:off x="457200" y="4953000"/>
            <a:ext cx="10591800" cy="7810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write-choice-text">
            <a:extLst>
              <a:ext uri="{FF2B5EF4-FFF2-40B4-BE49-F238E27FC236}">
                <a16:creationId xmlns:a16="http://schemas.microsoft.com/office/drawing/2014/main" id="{56FB32B1-36D7-4D1F-851C-E827775D4ADF}"/>
              </a:ext>
            </a:extLst>
          </p:cNvPr>
          <p:cNvSpPr>
            <a:spLocks noGrp="1"/>
          </p:cNvSpPr>
          <p:nvPr/>
        </p:nvSpPr>
        <p:spPr>
          <a:xfrm>
            <a:off x="723900" y="5191125"/>
            <a:ext cx="1000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Use immediate writes for explicit, high-value facts. Consolidate noisy experience after the turn.</a:t>
            </a:r>
          </a:p>
        </p:txBody>
      </p:sp>
    </p:spTree>
    <p:extLst>
      <p:ext uri="{BB962C8B-B14F-4D97-AF65-F5344CB8AC3E}">
        <p14:creationId xmlns:p14="http://schemas.microsoft.com/office/powerpoint/2010/main" val="1290346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yebrow-10">
            <a:extLst>
              <a:ext uri="{FF2B5EF4-FFF2-40B4-BE49-F238E27FC236}">
                <a16:creationId xmlns:a16="http://schemas.microsoft.com/office/drawing/2014/main" id="{8018ED56-992A-4E8E-8615-1D8E2D063C7A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GOVERNED PERSISTENT MEMORY</a:t>
            </a:r>
          </a:p>
        </p:txBody>
      </p:sp>
      <p:sp>
        <p:nvSpPr>
          <p:cNvPr id="2" name="title-10">
            <a:extLst>
              <a:ext uri="{FF2B5EF4-FFF2-40B4-BE49-F238E27FC236}">
                <a16:creationId xmlns:a16="http://schemas.microsoft.com/office/drawing/2014/main" id="{C1F73C61-F800-497C-AA98-8B64B8240AB5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110966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The context manager joins three governed evidence sources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2B0CF7FE-C860-42D7-875F-3F4479CF1A85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11252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10">
            <a:extLst>
              <a:ext uri="{FF2B5EF4-FFF2-40B4-BE49-F238E27FC236}">
                <a16:creationId xmlns:a16="http://schemas.microsoft.com/office/drawing/2014/main" id="{011E191D-36B2-4A5F-BF09-C421F431707F}"/>
              </a:ext>
            </a:extLst>
          </p:cNvPr>
          <p:cNvSpPr>
            <a:spLocks noGrp="1"/>
          </p:cNvSpPr>
          <p:nvPr/>
        </p:nvSpPr>
        <p:spPr>
          <a:xfrm>
            <a:off x="11182350" y="64103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arch-line-0">
            <a:extLst>
              <a:ext uri="{FF2B5EF4-FFF2-40B4-BE49-F238E27FC236}">
                <a16:creationId xmlns:a16="http://schemas.microsoft.com/office/drawing/2014/main" id="{D70062FA-3132-4FE1-8BAE-04B82D4D80D3}"/>
              </a:ext>
            </a:extLst>
          </p:cNvPr>
          <p:cNvSpPr>
            <a:spLocks noGrp="1"/>
          </p:cNvSpPr>
          <p:nvPr/>
        </p:nvSpPr>
        <p:spPr>
          <a:xfrm>
            <a:off x="2038350" y="3238500"/>
            <a:ext cx="1285875" cy="0"/>
          </a:xfrm>
          <a:prstGeom prst="line">
            <a:avLst/>
          </a:prstGeom>
          <a:noFill/>
          <a:ln w="1905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arch-line-1">
            <a:extLst>
              <a:ext uri="{FF2B5EF4-FFF2-40B4-BE49-F238E27FC236}">
                <a16:creationId xmlns:a16="http://schemas.microsoft.com/office/drawing/2014/main" id="{3DA1F7F4-5E1A-4E23-A5E0-B7C1E2969135}"/>
              </a:ext>
            </a:extLst>
          </p:cNvPr>
          <p:cNvSpPr>
            <a:spLocks noGrp="1"/>
          </p:cNvSpPr>
          <p:nvPr/>
        </p:nvSpPr>
        <p:spPr>
          <a:xfrm>
            <a:off x="4657725" y="3238500"/>
            <a:ext cx="1285875" cy="0"/>
          </a:xfrm>
          <a:prstGeom prst="line">
            <a:avLst/>
          </a:prstGeom>
          <a:noFill/>
          <a:ln w="1905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arch-line-2">
            <a:extLst>
              <a:ext uri="{FF2B5EF4-FFF2-40B4-BE49-F238E27FC236}">
                <a16:creationId xmlns:a16="http://schemas.microsoft.com/office/drawing/2014/main" id="{0363141E-C6E0-4910-AEFD-E50EA8854D97}"/>
              </a:ext>
            </a:extLst>
          </p:cNvPr>
          <p:cNvSpPr>
            <a:spLocks noGrp="1"/>
          </p:cNvSpPr>
          <p:nvPr/>
        </p:nvSpPr>
        <p:spPr>
          <a:xfrm>
            <a:off x="7277100" y="3238500"/>
            <a:ext cx="1285875" cy="0"/>
          </a:xfrm>
          <a:prstGeom prst="line">
            <a:avLst/>
          </a:prstGeom>
          <a:noFill/>
          <a:ln w="1905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arch-line-3">
            <a:extLst>
              <a:ext uri="{FF2B5EF4-FFF2-40B4-BE49-F238E27FC236}">
                <a16:creationId xmlns:a16="http://schemas.microsoft.com/office/drawing/2014/main" id="{5667A35E-961E-4204-A651-BB7091149CCC}"/>
              </a:ext>
            </a:extLst>
          </p:cNvPr>
          <p:cNvSpPr>
            <a:spLocks noGrp="1"/>
          </p:cNvSpPr>
          <p:nvPr/>
        </p:nvSpPr>
        <p:spPr>
          <a:xfrm>
            <a:off x="9896475" y="3238500"/>
            <a:ext cx="952500" cy="0"/>
          </a:xfrm>
          <a:prstGeom prst="line">
            <a:avLst/>
          </a:prstGeom>
          <a:noFill/>
          <a:ln w="1905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arch-line-4">
            <a:extLst>
              <a:ext uri="{FF2B5EF4-FFF2-40B4-BE49-F238E27FC236}">
                <a16:creationId xmlns:a16="http://schemas.microsoft.com/office/drawing/2014/main" id="{C7CDC856-510C-4C98-A834-A854D885E3B8}"/>
              </a:ext>
            </a:extLst>
          </p:cNvPr>
          <p:cNvSpPr>
            <a:spLocks noGrp="1"/>
          </p:cNvSpPr>
          <p:nvPr/>
        </p:nvSpPr>
        <p:spPr>
          <a:xfrm>
            <a:off x="5943600" y="4095750"/>
            <a:ext cx="0" cy="666750"/>
          </a:xfrm>
          <a:prstGeom prst="line">
            <a:avLst/>
          </a:prstGeom>
          <a:noFill/>
          <a:ln w="1905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arch-line-5">
            <a:extLst>
              <a:ext uri="{FF2B5EF4-FFF2-40B4-BE49-F238E27FC236}">
                <a16:creationId xmlns:a16="http://schemas.microsoft.com/office/drawing/2014/main" id="{E0455444-9DBE-436C-84FA-E1EF606DBC01}"/>
              </a:ext>
            </a:extLst>
          </p:cNvPr>
          <p:cNvSpPr>
            <a:spLocks noGrp="1"/>
          </p:cNvSpPr>
          <p:nvPr/>
        </p:nvSpPr>
        <p:spPr>
          <a:xfrm>
            <a:off x="8562975" y="4095750"/>
            <a:ext cx="0" cy="666750"/>
          </a:xfrm>
          <a:prstGeom prst="line">
            <a:avLst/>
          </a:prstGeom>
          <a:noFill/>
          <a:ln w="1905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arch-node-0">
            <a:extLst>
              <a:ext uri="{FF2B5EF4-FFF2-40B4-BE49-F238E27FC236}">
                <a16:creationId xmlns:a16="http://schemas.microsoft.com/office/drawing/2014/main" id="{E91A53AB-1C6E-49A4-8C6E-207EA18842F7}"/>
              </a:ext>
            </a:extLst>
          </p:cNvPr>
          <p:cNvSpPr>
            <a:spLocks noGrp="1"/>
          </p:cNvSpPr>
          <p:nvPr/>
        </p:nvSpPr>
        <p:spPr>
          <a:xfrm>
            <a:off x="457200" y="2714625"/>
            <a:ext cx="158115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arch-node-text-0">
            <a:extLst>
              <a:ext uri="{FF2B5EF4-FFF2-40B4-BE49-F238E27FC236}">
                <a16:creationId xmlns:a16="http://schemas.microsoft.com/office/drawing/2014/main" id="{173AB3A1-FD3D-4856-9DD7-43C36D80BFAF}"/>
              </a:ext>
            </a:extLst>
          </p:cNvPr>
          <p:cNvSpPr>
            <a:spLocks noGrp="1"/>
          </p:cNvSpPr>
          <p:nvPr/>
        </p:nvSpPr>
        <p:spPr>
          <a:xfrm>
            <a:off x="571500" y="2943225"/>
            <a:ext cx="13525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USER TURN</a:t>
            </a:r>
          </a:p>
        </p:txBody>
      </p:sp>
      <p:sp>
        <p:nvSpPr>
          <p:cNvPr id="13" name="arch-node-1">
            <a:extLst>
              <a:ext uri="{FF2B5EF4-FFF2-40B4-BE49-F238E27FC236}">
                <a16:creationId xmlns:a16="http://schemas.microsoft.com/office/drawing/2014/main" id="{85301446-BCD5-46C7-86F5-ECD241D1339C}"/>
              </a:ext>
            </a:extLst>
          </p:cNvPr>
          <p:cNvSpPr>
            <a:spLocks noGrp="1"/>
          </p:cNvSpPr>
          <p:nvPr/>
        </p:nvSpPr>
        <p:spPr>
          <a:xfrm>
            <a:off x="3324225" y="2714625"/>
            <a:ext cx="1333500" cy="1047750"/>
          </a:xfrm>
          <a:prstGeom prst="roundRect">
            <a:avLst>
              <a:gd name="adj" fmla="val 7273"/>
            </a:avLst>
          </a:prstGeom>
          <a:solidFill>
            <a:srgbClr val="D0ED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arch-node-text-1">
            <a:extLst>
              <a:ext uri="{FF2B5EF4-FFF2-40B4-BE49-F238E27FC236}">
                <a16:creationId xmlns:a16="http://schemas.microsoft.com/office/drawing/2014/main" id="{9593D6C2-E112-404E-9AC7-ED29E51E9AB3}"/>
              </a:ext>
            </a:extLst>
          </p:cNvPr>
          <p:cNvSpPr>
            <a:spLocks noGrp="1"/>
          </p:cNvSpPr>
          <p:nvPr/>
        </p:nvSpPr>
        <p:spPr>
          <a:xfrm>
            <a:off x="3438525" y="2943225"/>
            <a:ext cx="11049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AGENT</a:t>
            </a:r>
          </a:p>
        </p:txBody>
      </p:sp>
      <p:sp>
        <p:nvSpPr>
          <p:cNvPr id="15" name="arch-node-2">
            <a:extLst>
              <a:ext uri="{FF2B5EF4-FFF2-40B4-BE49-F238E27FC236}">
                <a16:creationId xmlns:a16="http://schemas.microsoft.com/office/drawing/2014/main" id="{E9188CC8-BC50-4BCC-BE67-715808686E00}"/>
              </a:ext>
            </a:extLst>
          </p:cNvPr>
          <p:cNvSpPr>
            <a:spLocks noGrp="1"/>
          </p:cNvSpPr>
          <p:nvPr/>
        </p:nvSpPr>
        <p:spPr>
          <a:xfrm>
            <a:off x="5943600" y="2571750"/>
            <a:ext cx="1333500" cy="1333500"/>
          </a:xfrm>
          <a:prstGeom prst="roundRect">
            <a:avLst>
              <a:gd name="adj" fmla="val 5714"/>
            </a:avLst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arch-node-text-2">
            <a:extLst>
              <a:ext uri="{FF2B5EF4-FFF2-40B4-BE49-F238E27FC236}">
                <a16:creationId xmlns:a16="http://schemas.microsoft.com/office/drawing/2014/main" id="{81E4E6FC-8D08-401F-8AF0-960ED2D9B0CE}"/>
              </a:ext>
            </a:extLst>
          </p:cNvPr>
          <p:cNvSpPr>
            <a:spLocks noGrp="1"/>
          </p:cNvSpPr>
          <p:nvPr/>
        </p:nvSpPr>
        <p:spPr>
          <a:xfrm>
            <a:off x="6057900" y="2800350"/>
            <a:ext cx="11049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CONTEXT</a:t>
            </a:r>
          </a:p>
          <a:p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MANAGER</a:t>
            </a:r>
          </a:p>
        </p:txBody>
      </p:sp>
      <p:sp>
        <p:nvSpPr>
          <p:cNvPr id="17" name="arch-node-3">
            <a:extLst>
              <a:ext uri="{FF2B5EF4-FFF2-40B4-BE49-F238E27FC236}">
                <a16:creationId xmlns:a16="http://schemas.microsoft.com/office/drawing/2014/main" id="{1FF792A0-429A-4EEB-8AF9-54048F895007}"/>
              </a:ext>
            </a:extLst>
          </p:cNvPr>
          <p:cNvSpPr>
            <a:spLocks noGrp="1"/>
          </p:cNvSpPr>
          <p:nvPr/>
        </p:nvSpPr>
        <p:spPr>
          <a:xfrm>
            <a:off x="8562975" y="2714625"/>
            <a:ext cx="13335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arch-node-text-3">
            <a:extLst>
              <a:ext uri="{FF2B5EF4-FFF2-40B4-BE49-F238E27FC236}">
                <a16:creationId xmlns:a16="http://schemas.microsoft.com/office/drawing/2014/main" id="{CED58827-4D9A-4112-9F15-743D6A2EF8D8}"/>
              </a:ext>
            </a:extLst>
          </p:cNvPr>
          <p:cNvSpPr>
            <a:spLocks noGrp="1"/>
          </p:cNvSpPr>
          <p:nvPr/>
        </p:nvSpPr>
        <p:spPr>
          <a:xfrm>
            <a:off x="8677275" y="2943225"/>
            <a:ext cx="11049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</p:txBody>
      </p:sp>
      <p:sp>
        <p:nvSpPr>
          <p:cNvPr id="19" name="arch-node-4">
            <a:extLst>
              <a:ext uri="{FF2B5EF4-FFF2-40B4-BE49-F238E27FC236}">
                <a16:creationId xmlns:a16="http://schemas.microsoft.com/office/drawing/2014/main" id="{AC385162-22B0-4AB8-BD84-39E872D753C2}"/>
              </a:ext>
            </a:extLst>
          </p:cNvPr>
          <p:cNvSpPr>
            <a:spLocks noGrp="1"/>
          </p:cNvSpPr>
          <p:nvPr/>
        </p:nvSpPr>
        <p:spPr>
          <a:xfrm>
            <a:off x="10848975" y="2714625"/>
            <a:ext cx="733425" cy="1047750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arch-node-text-4">
            <a:extLst>
              <a:ext uri="{FF2B5EF4-FFF2-40B4-BE49-F238E27FC236}">
                <a16:creationId xmlns:a16="http://schemas.microsoft.com/office/drawing/2014/main" id="{358FF21E-573A-423C-BC73-D4B0918113F9}"/>
              </a:ext>
            </a:extLst>
          </p:cNvPr>
          <p:cNvSpPr>
            <a:spLocks noGrp="1"/>
          </p:cNvSpPr>
          <p:nvPr/>
        </p:nvSpPr>
        <p:spPr>
          <a:xfrm>
            <a:off x="10963275" y="2943225"/>
            <a:ext cx="5048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ANSWER</a:t>
            </a:r>
          </a:p>
        </p:txBody>
      </p:sp>
      <p:sp>
        <p:nvSpPr>
          <p:cNvPr id="21" name="arch-node-5">
            <a:extLst>
              <a:ext uri="{FF2B5EF4-FFF2-40B4-BE49-F238E27FC236}">
                <a16:creationId xmlns:a16="http://schemas.microsoft.com/office/drawing/2014/main" id="{FE6EEAC5-2FDD-4E69-B0EB-FE0932179183}"/>
              </a:ext>
            </a:extLst>
          </p:cNvPr>
          <p:cNvSpPr>
            <a:spLocks noGrp="1"/>
          </p:cNvSpPr>
          <p:nvPr/>
        </p:nvSpPr>
        <p:spPr>
          <a:xfrm>
            <a:off x="4914900" y="4762500"/>
            <a:ext cx="2057400" cy="876300"/>
          </a:xfrm>
          <a:prstGeom prst="roundRect">
            <a:avLst>
              <a:gd name="adj" fmla="val 8696"/>
            </a:avLst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arch-node-text-5">
            <a:extLst>
              <a:ext uri="{FF2B5EF4-FFF2-40B4-BE49-F238E27FC236}">
                <a16:creationId xmlns:a16="http://schemas.microsoft.com/office/drawing/2014/main" id="{938C26C8-2E1E-45CE-A974-A988DCF2C06E}"/>
              </a:ext>
            </a:extLst>
          </p:cNvPr>
          <p:cNvSpPr>
            <a:spLocks noGrp="1"/>
          </p:cNvSpPr>
          <p:nvPr/>
        </p:nvSpPr>
        <p:spPr>
          <a:xfrm>
            <a:off x="5029200" y="4991100"/>
            <a:ext cx="18288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THREAD STATE</a:t>
            </a:r>
          </a:p>
          <a:p>
            <a:pPr algn="ctr">
              <a:defRPr sz="13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Redis / checkpoint</a:t>
            </a:r>
          </a:p>
        </p:txBody>
      </p:sp>
      <p:sp>
        <p:nvSpPr>
          <p:cNvPr id="23" name="arch-node-6">
            <a:extLst>
              <a:ext uri="{FF2B5EF4-FFF2-40B4-BE49-F238E27FC236}">
                <a16:creationId xmlns:a16="http://schemas.microsoft.com/office/drawing/2014/main" id="{DBF2A746-79C2-42C7-AEA1-276E93365872}"/>
              </a:ext>
            </a:extLst>
          </p:cNvPr>
          <p:cNvSpPr>
            <a:spLocks noGrp="1"/>
          </p:cNvSpPr>
          <p:nvPr/>
        </p:nvSpPr>
        <p:spPr>
          <a:xfrm>
            <a:off x="7534275" y="4762500"/>
            <a:ext cx="2057400" cy="876300"/>
          </a:xfrm>
          <a:prstGeom prst="roundRect">
            <a:avLst>
              <a:gd name="adj" fmla="val 8696"/>
            </a:avLst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arch-node-text-6">
            <a:extLst>
              <a:ext uri="{FF2B5EF4-FFF2-40B4-BE49-F238E27FC236}">
                <a16:creationId xmlns:a16="http://schemas.microsoft.com/office/drawing/2014/main" id="{871E080D-CF94-4A60-A07E-9B5B98ECD72F}"/>
              </a:ext>
            </a:extLst>
          </p:cNvPr>
          <p:cNvSpPr>
            <a:spLocks noGrp="1"/>
          </p:cNvSpPr>
          <p:nvPr/>
        </p:nvSpPr>
        <p:spPr>
          <a:xfrm>
            <a:off x="7648575" y="4991100"/>
            <a:ext cx="18288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6669"/>
          </a:bodyPr>
          <a:lstStyle/>
          <a:p>
            <a:pPr algn="ctr">
              <a:defRPr sz="13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LONG-TERM MEMORY</a:t>
            </a:r>
          </a:p>
          <a:p>
            <a:pPr algn="ctr">
              <a:defRPr sz="13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PostgreSQL + index</a:t>
            </a:r>
          </a:p>
        </p:txBody>
      </p:sp>
      <p:sp>
        <p:nvSpPr>
          <p:cNvPr id="25" name="arch-evidence">
            <a:extLst>
              <a:ext uri="{FF2B5EF4-FFF2-40B4-BE49-F238E27FC236}">
                <a16:creationId xmlns:a16="http://schemas.microsoft.com/office/drawing/2014/main" id="{7C3480FE-31C8-48A5-B17E-6B0C9969C53C}"/>
              </a:ext>
            </a:extLst>
          </p:cNvPr>
          <p:cNvSpPr>
            <a:spLocks noGrp="1"/>
          </p:cNvSpPr>
          <p:nvPr/>
        </p:nvSpPr>
        <p:spPr>
          <a:xfrm>
            <a:off x="457200" y="5924550"/>
            <a:ext cx="1000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RAG + system-of-record tools enter through the same context budget—but keep their own truth contracts.</a:t>
            </a:r>
          </a:p>
        </p:txBody>
      </p:sp>
    </p:spTree>
    <p:extLst>
      <p:ext uri="{BB962C8B-B14F-4D97-AF65-F5344CB8AC3E}">
        <p14:creationId xmlns:p14="http://schemas.microsoft.com/office/powerpoint/2010/main" val="2037540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yebrow-11">
            <a:extLst>
              <a:ext uri="{FF2B5EF4-FFF2-40B4-BE49-F238E27FC236}">
                <a16:creationId xmlns:a16="http://schemas.microsoft.com/office/drawing/2014/main" id="{733B3C1D-650B-4591-9C3B-AFF143C9804A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GOVERNED PERSISTENT MEMORY</a:t>
            </a:r>
          </a:p>
        </p:txBody>
      </p:sp>
      <p:sp>
        <p:nvSpPr>
          <p:cNvPr id="2" name="title-11">
            <a:extLst>
              <a:ext uri="{FF2B5EF4-FFF2-40B4-BE49-F238E27FC236}">
                <a16:creationId xmlns:a16="http://schemas.microsoft.com/office/drawing/2014/main" id="{34FE4A92-C812-47E9-B02E-0DD711B1FA3A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110966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316"/>
          </a:bodyPr>
          <a:lstStyle/>
          <a:p>
            <a:pPr algn="l">
              <a:def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A thread checkpoint must be resumable, scoped, and bounded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B5FEE6FD-42E6-4FF3-A517-89B801CCDE37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11252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11">
            <a:extLst>
              <a:ext uri="{FF2B5EF4-FFF2-40B4-BE49-F238E27FC236}">
                <a16:creationId xmlns:a16="http://schemas.microsoft.com/office/drawing/2014/main" id="{11301CB3-116A-4062-8CF7-C57BCAD0BA7D}"/>
              </a:ext>
            </a:extLst>
          </p:cNvPr>
          <p:cNvSpPr>
            <a:spLocks noGrp="1"/>
          </p:cNvSpPr>
          <p:nvPr/>
        </p:nvSpPr>
        <p:spPr>
          <a:xfrm>
            <a:off x="11182350" y="64103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checkpoint-fields-title">
            <a:extLst>
              <a:ext uri="{FF2B5EF4-FFF2-40B4-BE49-F238E27FC236}">
                <a16:creationId xmlns:a16="http://schemas.microsoft.com/office/drawing/2014/main" id="{3919BB68-C461-4FB2-936A-90CEDF28DD5C}"/>
              </a:ext>
            </a:extLst>
          </p:cNvPr>
          <p:cNvSpPr>
            <a:spLocks noGrp="1"/>
          </p:cNvSpPr>
          <p:nvPr/>
        </p:nvSpPr>
        <p:spPr>
          <a:xfrm>
            <a:off x="457200" y="19050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CHECKPOINT CONTRACT</a:t>
            </a:r>
          </a:p>
        </p:txBody>
      </p:sp>
      <p:sp>
        <p:nvSpPr>
          <p:cNvPr id="6" name="checkpoint-field-0">
            <a:extLst>
              <a:ext uri="{FF2B5EF4-FFF2-40B4-BE49-F238E27FC236}">
                <a16:creationId xmlns:a16="http://schemas.microsoft.com/office/drawing/2014/main" id="{EB5A1A90-D785-45F2-A41D-2B599DB1FCB5}"/>
              </a:ext>
            </a:extLst>
          </p:cNvPr>
          <p:cNvSpPr>
            <a:spLocks noGrp="1"/>
          </p:cNvSpPr>
          <p:nvPr/>
        </p:nvSpPr>
        <p:spPr>
          <a:xfrm>
            <a:off x="457200" y="2400300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thread_id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BF45AD45-A3FE-408D-9789-44E4C7B9B9E2}"/>
              </a:ext>
            </a:extLst>
          </p:cNvPr>
          <p:cNvSpPr>
            <a:spLocks noGrp="1"/>
          </p:cNvSpPr>
          <p:nvPr/>
        </p:nvSpPr>
        <p:spPr>
          <a:xfrm>
            <a:off x="457200" y="2762250"/>
            <a:ext cx="428625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checkpoint-field-1">
            <a:extLst>
              <a:ext uri="{FF2B5EF4-FFF2-40B4-BE49-F238E27FC236}">
                <a16:creationId xmlns:a16="http://schemas.microsoft.com/office/drawing/2014/main" id="{F487F61D-F5A0-41C1-9A55-156BC26CBDDE}"/>
              </a:ext>
            </a:extLst>
          </p:cNvPr>
          <p:cNvSpPr>
            <a:spLocks noGrp="1"/>
          </p:cNvSpPr>
          <p:nvPr/>
        </p:nvSpPr>
        <p:spPr>
          <a:xfrm>
            <a:off x="457200" y="2867025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tenant / user / agent / purpose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44409F28-482C-4055-B93B-16744F4A3502}"/>
              </a:ext>
            </a:extLst>
          </p:cNvPr>
          <p:cNvSpPr>
            <a:spLocks noGrp="1"/>
          </p:cNvSpPr>
          <p:nvPr/>
        </p:nvSpPr>
        <p:spPr>
          <a:xfrm>
            <a:off x="457200" y="3228975"/>
            <a:ext cx="428625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checkpoint-field-2">
            <a:extLst>
              <a:ext uri="{FF2B5EF4-FFF2-40B4-BE49-F238E27FC236}">
                <a16:creationId xmlns:a16="http://schemas.microsoft.com/office/drawing/2014/main" id="{95470FE0-93B3-46BB-B44D-D625BB6F27FF}"/>
              </a:ext>
            </a:extLst>
          </p:cNvPr>
          <p:cNvSpPr>
            <a:spLocks noGrp="1"/>
          </p:cNvSpPr>
          <p:nvPr/>
        </p:nvSpPr>
        <p:spPr>
          <a:xfrm>
            <a:off x="457200" y="3333750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rolling summary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5E6F8094-8B7D-4EE0-A507-84E97656381A}"/>
              </a:ext>
            </a:extLst>
          </p:cNvPr>
          <p:cNvSpPr>
            <a:spLocks noGrp="1"/>
          </p:cNvSpPr>
          <p:nvPr/>
        </p:nvSpPr>
        <p:spPr>
          <a:xfrm>
            <a:off x="457200" y="3695700"/>
            <a:ext cx="428625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checkpoint-field-3">
            <a:extLst>
              <a:ext uri="{FF2B5EF4-FFF2-40B4-BE49-F238E27FC236}">
                <a16:creationId xmlns:a16="http://schemas.microsoft.com/office/drawing/2014/main" id="{1E6FEF5E-B0BE-4CA8-A795-5A5B57D12A35}"/>
              </a:ext>
            </a:extLst>
          </p:cNvPr>
          <p:cNvSpPr>
            <a:spLocks noGrp="1"/>
          </p:cNvSpPr>
          <p:nvPr/>
        </p:nvSpPr>
        <p:spPr>
          <a:xfrm>
            <a:off x="457200" y="3800475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recent turns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99CD9268-4316-42F2-A131-FB839A1C87F9}"/>
              </a:ext>
            </a:extLst>
          </p:cNvPr>
          <p:cNvSpPr>
            <a:spLocks noGrp="1"/>
          </p:cNvSpPr>
          <p:nvPr/>
        </p:nvSpPr>
        <p:spPr>
          <a:xfrm>
            <a:off x="457200" y="4162425"/>
            <a:ext cx="428625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checkpoint-field-4">
            <a:extLst>
              <a:ext uri="{FF2B5EF4-FFF2-40B4-BE49-F238E27FC236}">
                <a16:creationId xmlns:a16="http://schemas.microsoft.com/office/drawing/2014/main" id="{4EFFF7A6-C0FC-4B42-8A34-E8C19E315939}"/>
              </a:ext>
            </a:extLst>
          </p:cNvPr>
          <p:cNvSpPr>
            <a:spLocks noGrp="1"/>
          </p:cNvSpPr>
          <p:nvPr/>
        </p:nvSpPr>
        <p:spPr>
          <a:xfrm>
            <a:off x="457200" y="4267200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version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B435CDD2-911C-484B-BDF8-F2DE6FBB30E9}"/>
              </a:ext>
            </a:extLst>
          </p:cNvPr>
          <p:cNvSpPr>
            <a:spLocks noGrp="1"/>
          </p:cNvSpPr>
          <p:nvPr/>
        </p:nvSpPr>
        <p:spPr>
          <a:xfrm>
            <a:off x="457200" y="4629150"/>
            <a:ext cx="428625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checkpoint-field-5">
            <a:extLst>
              <a:ext uri="{FF2B5EF4-FFF2-40B4-BE49-F238E27FC236}">
                <a16:creationId xmlns:a16="http://schemas.microsoft.com/office/drawing/2014/main" id="{FE89B7F6-62CB-4334-9AF1-250AD069BFF4}"/>
              </a:ext>
            </a:extLst>
          </p:cNvPr>
          <p:cNvSpPr>
            <a:spLocks noGrp="1"/>
          </p:cNvSpPr>
          <p:nvPr/>
        </p:nvSpPr>
        <p:spPr>
          <a:xfrm>
            <a:off x="457200" y="4733925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updated_at / expires_at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8796F3EE-AE42-4172-A46F-6D422DAEDC15}"/>
              </a:ext>
            </a:extLst>
          </p:cNvPr>
          <p:cNvSpPr>
            <a:spLocks noGrp="1"/>
          </p:cNvSpPr>
          <p:nvPr/>
        </p:nvSpPr>
        <p:spPr>
          <a:xfrm>
            <a:off x="457200" y="5095875"/>
            <a:ext cx="428625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compaction-flow">
            <a:extLst>
              <a:ext uri="{FF2B5EF4-FFF2-40B4-BE49-F238E27FC236}">
                <a16:creationId xmlns:a16="http://schemas.microsoft.com/office/drawing/2014/main" id="{FA9EAAA0-3145-4D49-996C-FDD0CCB6BA80}"/>
              </a:ext>
            </a:extLst>
          </p:cNvPr>
          <p:cNvSpPr>
            <a:spLocks noGrp="1"/>
          </p:cNvSpPr>
          <p:nvPr/>
        </p:nvSpPr>
        <p:spPr>
          <a:xfrm>
            <a:off x="5581650" y="1905000"/>
            <a:ext cx="6000750" cy="34861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compaction-title">
            <a:extLst>
              <a:ext uri="{FF2B5EF4-FFF2-40B4-BE49-F238E27FC236}">
                <a16:creationId xmlns:a16="http://schemas.microsoft.com/office/drawing/2014/main" id="{C78302B4-68CB-42AD-B2FC-882D84B816BA}"/>
              </a:ext>
            </a:extLst>
          </p:cNvPr>
          <p:cNvSpPr>
            <a:spLocks noGrp="1"/>
          </p:cNvSpPr>
          <p:nvPr/>
        </p:nvSpPr>
        <p:spPr>
          <a:xfrm>
            <a:off x="5867400" y="21717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COMPACTION RULE</a:t>
            </a:r>
          </a:p>
        </p:txBody>
      </p:sp>
      <p:sp>
        <p:nvSpPr>
          <p:cNvPr id="20" name="compaction-flow-text">
            <a:extLst>
              <a:ext uri="{FF2B5EF4-FFF2-40B4-BE49-F238E27FC236}">
                <a16:creationId xmlns:a16="http://schemas.microsoft.com/office/drawing/2014/main" id="{2FBF8201-B856-451D-B0E0-201FBE4EA71B}"/>
              </a:ext>
            </a:extLst>
          </p:cNvPr>
          <p:cNvSpPr>
            <a:spLocks noGrp="1"/>
          </p:cNvSpPr>
          <p:nvPr/>
        </p:nvSpPr>
        <p:spPr>
          <a:xfrm>
            <a:off x="5867400" y="2686050"/>
            <a:ext cx="51435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full history</a:t>
            </a:r>
          </a:p>
          <a:p>
            <a:pPr algn="l">
              <a:defRPr sz="21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  <a:p>
            <a:pPr algn="l">
              <a:defRPr sz="21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recent window + evicted turns</a:t>
            </a:r>
          </a:p>
          <a:p>
            <a:pPr algn="l">
              <a:defRPr sz="21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  <a:p>
            <a:pPr algn="l">
              <a:defRPr sz="21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recent window + versioned summary</a:t>
            </a:r>
          </a:p>
          <a:p>
            <a:pPr algn="l">
              <a:defRPr sz="21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  <a:p>
            <a:pPr algn="l">
              <a:defRPr sz="21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checkpoint survives restart</a:t>
            </a:r>
          </a:p>
        </p:txBody>
      </p:sp>
    </p:spTree>
    <p:extLst>
      <p:ext uri="{BB962C8B-B14F-4D97-AF65-F5344CB8AC3E}">
        <p14:creationId xmlns:p14="http://schemas.microsoft.com/office/powerpoint/2010/main" val="941753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yebrow-12">
            <a:extLst>
              <a:ext uri="{FF2B5EF4-FFF2-40B4-BE49-F238E27FC236}">
                <a16:creationId xmlns:a16="http://schemas.microsoft.com/office/drawing/2014/main" id="{E47C505A-6B47-486B-AE7A-44A6BA275E9F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GOVERNED PERSISTENT MEMORY</a:t>
            </a:r>
          </a:p>
        </p:txBody>
      </p:sp>
      <p:sp>
        <p:nvSpPr>
          <p:cNvPr id="2" name="title-12">
            <a:extLst>
              <a:ext uri="{FF2B5EF4-FFF2-40B4-BE49-F238E27FC236}">
                <a16:creationId xmlns:a16="http://schemas.microsoft.com/office/drawing/2014/main" id="{6743574C-4D2A-4349-A398-F36446969D3C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110966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Live build 1: turn unbounded history into controlled state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FBBB9184-F397-4B32-A3E3-9B39BF2BDDEE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11252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12">
            <a:extLst>
              <a:ext uri="{FF2B5EF4-FFF2-40B4-BE49-F238E27FC236}">
                <a16:creationId xmlns:a16="http://schemas.microsoft.com/office/drawing/2014/main" id="{BA7A2DCA-14C5-4A6A-9413-8EB237C2FB1D}"/>
              </a:ext>
            </a:extLst>
          </p:cNvPr>
          <p:cNvSpPr>
            <a:spLocks noGrp="1"/>
          </p:cNvSpPr>
          <p:nvPr/>
        </p:nvSpPr>
        <p:spPr>
          <a:xfrm>
            <a:off x="11182350" y="64103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92C8DDCD-407F-458A-B6AC-87BC2A0AA216}"/>
              </a:ext>
            </a:extLst>
          </p:cNvPr>
          <p:cNvSpPr>
            <a:spLocks noGrp="1"/>
          </p:cNvSpPr>
          <p:nvPr/>
        </p:nvSpPr>
        <p:spPr>
          <a:xfrm>
            <a:off x="1047750" y="3238500"/>
            <a:ext cx="9525000" cy="0"/>
          </a:xfrm>
          <a:prstGeom prst="line">
            <a:avLst/>
          </a:prstGeom>
          <a:noFill/>
          <a:ln w="1905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build1-dot-0">
            <a:extLst>
              <a:ext uri="{FF2B5EF4-FFF2-40B4-BE49-F238E27FC236}">
                <a16:creationId xmlns:a16="http://schemas.microsoft.com/office/drawing/2014/main" id="{E73F6CE3-90D3-4195-B94B-EFFE51E36B92}"/>
              </a:ext>
            </a:extLst>
          </p:cNvPr>
          <p:cNvSpPr>
            <a:spLocks noGrp="1"/>
          </p:cNvSpPr>
          <p:nvPr/>
        </p:nvSpPr>
        <p:spPr>
          <a:xfrm>
            <a:off x="762000" y="31242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build1-num-0">
            <a:extLst>
              <a:ext uri="{FF2B5EF4-FFF2-40B4-BE49-F238E27FC236}">
                <a16:creationId xmlns:a16="http://schemas.microsoft.com/office/drawing/2014/main" id="{DA4F0161-7700-468C-9B4E-D639D470DA1D}"/>
              </a:ext>
            </a:extLst>
          </p:cNvPr>
          <p:cNvSpPr>
            <a:spLocks noGrp="1"/>
          </p:cNvSpPr>
          <p:nvPr/>
        </p:nvSpPr>
        <p:spPr>
          <a:xfrm>
            <a:off x="762000" y="2209800"/>
            <a:ext cx="76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build1-title-0">
            <a:extLst>
              <a:ext uri="{FF2B5EF4-FFF2-40B4-BE49-F238E27FC236}">
                <a16:creationId xmlns:a16="http://schemas.microsoft.com/office/drawing/2014/main" id="{99A71E33-F3C1-49F5-9FD0-8757BEFA8727}"/>
              </a:ext>
            </a:extLst>
          </p:cNvPr>
          <p:cNvSpPr>
            <a:spLocks noGrp="1"/>
          </p:cNvSpPr>
          <p:nvPr/>
        </p:nvSpPr>
        <p:spPr>
          <a:xfrm>
            <a:off x="762000" y="3638550"/>
            <a:ext cx="276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Persist</a:t>
            </a:r>
          </a:p>
        </p:txBody>
      </p:sp>
      <p:sp>
        <p:nvSpPr>
          <p:cNvPr id="9" name="build1-body-0">
            <a:extLst>
              <a:ext uri="{FF2B5EF4-FFF2-40B4-BE49-F238E27FC236}">
                <a16:creationId xmlns:a16="http://schemas.microsoft.com/office/drawing/2014/main" id="{F12C2498-8284-4BA7-826D-2CE5F2461BDC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3000375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Save typed turns under the full thread namespace.</a:t>
            </a:r>
          </a:p>
        </p:txBody>
      </p:sp>
      <p:sp>
        <p:nvSpPr>
          <p:cNvPr id="10" name="build1-dot-1">
            <a:extLst>
              <a:ext uri="{FF2B5EF4-FFF2-40B4-BE49-F238E27FC236}">
                <a16:creationId xmlns:a16="http://schemas.microsoft.com/office/drawing/2014/main" id="{351FB59E-A874-4804-82F1-6E1AC4ECFBA8}"/>
              </a:ext>
            </a:extLst>
          </p:cNvPr>
          <p:cNvSpPr>
            <a:spLocks noGrp="1"/>
          </p:cNvSpPr>
          <p:nvPr/>
        </p:nvSpPr>
        <p:spPr>
          <a:xfrm>
            <a:off x="4667250" y="31242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build1-num-1">
            <a:extLst>
              <a:ext uri="{FF2B5EF4-FFF2-40B4-BE49-F238E27FC236}">
                <a16:creationId xmlns:a16="http://schemas.microsoft.com/office/drawing/2014/main" id="{9607A928-0AF8-4962-BE9C-1E2568BA0DD2}"/>
              </a:ext>
            </a:extLst>
          </p:cNvPr>
          <p:cNvSpPr>
            <a:spLocks noGrp="1"/>
          </p:cNvSpPr>
          <p:nvPr/>
        </p:nvSpPr>
        <p:spPr>
          <a:xfrm>
            <a:off x="4667250" y="2209800"/>
            <a:ext cx="76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build1-title-1">
            <a:extLst>
              <a:ext uri="{FF2B5EF4-FFF2-40B4-BE49-F238E27FC236}">
                <a16:creationId xmlns:a16="http://schemas.microsoft.com/office/drawing/2014/main" id="{AF4123FE-B819-4004-8126-A35550258837}"/>
              </a:ext>
            </a:extLst>
          </p:cNvPr>
          <p:cNvSpPr>
            <a:spLocks noGrp="1"/>
          </p:cNvSpPr>
          <p:nvPr/>
        </p:nvSpPr>
        <p:spPr>
          <a:xfrm>
            <a:off x="4667250" y="3638550"/>
            <a:ext cx="276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Compact</a:t>
            </a:r>
          </a:p>
        </p:txBody>
      </p:sp>
      <p:sp>
        <p:nvSpPr>
          <p:cNvPr id="13" name="build1-body-1">
            <a:extLst>
              <a:ext uri="{FF2B5EF4-FFF2-40B4-BE49-F238E27FC236}">
                <a16:creationId xmlns:a16="http://schemas.microsoft.com/office/drawing/2014/main" id="{135B5134-BC63-4E6C-A08C-54E192BCBAF8}"/>
              </a:ext>
            </a:extLst>
          </p:cNvPr>
          <p:cNvSpPr>
            <a:spLocks noGrp="1"/>
          </p:cNvSpPr>
          <p:nvPr/>
        </p:nvSpPr>
        <p:spPr>
          <a:xfrm>
            <a:off x="4667250" y="4210050"/>
            <a:ext cx="3000375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Move evicted turns into a bounded rolling summary.</a:t>
            </a:r>
          </a:p>
        </p:txBody>
      </p:sp>
      <p:sp>
        <p:nvSpPr>
          <p:cNvPr id="14" name="build1-dot-2">
            <a:extLst>
              <a:ext uri="{FF2B5EF4-FFF2-40B4-BE49-F238E27FC236}">
                <a16:creationId xmlns:a16="http://schemas.microsoft.com/office/drawing/2014/main" id="{8C2830A2-8295-44A1-88A3-5F135836151E}"/>
              </a:ext>
            </a:extLst>
          </p:cNvPr>
          <p:cNvSpPr>
            <a:spLocks noGrp="1"/>
          </p:cNvSpPr>
          <p:nvPr/>
        </p:nvSpPr>
        <p:spPr>
          <a:xfrm>
            <a:off x="8572500" y="31242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build1-num-2">
            <a:extLst>
              <a:ext uri="{FF2B5EF4-FFF2-40B4-BE49-F238E27FC236}">
                <a16:creationId xmlns:a16="http://schemas.microsoft.com/office/drawing/2014/main" id="{41A34657-7BA9-407E-BDC6-1C4CA860E588}"/>
              </a:ext>
            </a:extLst>
          </p:cNvPr>
          <p:cNvSpPr>
            <a:spLocks noGrp="1"/>
          </p:cNvSpPr>
          <p:nvPr/>
        </p:nvSpPr>
        <p:spPr>
          <a:xfrm>
            <a:off x="8572500" y="2209800"/>
            <a:ext cx="76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build1-title-2">
            <a:extLst>
              <a:ext uri="{FF2B5EF4-FFF2-40B4-BE49-F238E27FC236}">
                <a16:creationId xmlns:a16="http://schemas.microsoft.com/office/drawing/2014/main" id="{AB4EAC52-F0BE-409D-B0BE-CC81F3669470}"/>
              </a:ext>
            </a:extLst>
          </p:cNvPr>
          <p:cNvSpPr>
            <a:spLocks noGrp="1"/>
          </p:cNvSpPr>
          <p:nvPr/>
        </p:nvSpPr>
        <p:spPr>
          <a:xfrm>
            <a:off x="8572500" y="3638550"/>
            <a:ext cx="276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Prove</a:t>
            </a:r>
          </a:p>
        </p:txBody>
      </p:sp>
      <p:sp>
        <p:nvSpPr>
          <p:cNvPr id="17" name="build1-body-2">
            <a:extLst>
              <a:ext uri="{FF2B5EF4-FFF2-40B4-BE49-F238E27FC236}">
                <a16:creationId xmlns:a16="http://schemas.microsoft.com/office/drawing/2014/main" id="{27663C99-C842-4B6C-9D63-DEF7D80632A8}"/>
              </a:ext>
            </a:extLst>
          </p:cNvPr>
          <p:cNvSpPr>
            <a:spLocks noGrp="1"/>
          </p:cNvSpPr>
          <p:nvPr/>
        </p:nvSpPr>
        <p:spPr>
          <a:xfrm>
            <a:off x="8572500" y="4210050"/>
            <a:ext cx="3000375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Reopen the store and recover version, summary, and recent turns.</a:t>
            </a:r>
          </a:p>
        </p:txBody>
      </p:sp>
    </p:spTree>
    <p:extLst>
      <p:ext uri="{BB962C8B-B14F-4D97-AF65-F5344CB8AC3E}">
        <p14:creationId xmlns:p14="http://schemas.microsoft.com/office/powerpoint/2010/main" val="1767619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yebrow-13">
            <a:extLst>
              <a:ext uri="{FF2B5EF4-FFF2-40B4-BE49-F238E27FC236}">
                <a16:creationId xmlns:a16="http://schemas.microsoft.com/office/drawing/2014/main" id="{C6942404-7777-424E-A91D-2A15F0037DD7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GOVERNED PERSISTENT MEMORY</a:t>
            </a:r>
          </a:p>
        </p:txBody>
      </p:sp>
      <p:sp>
        <p:nvSpPr>
          <p:cNvPr id="2" name="title-13">
            <a:extLst>
              <a:ext uri="{FF2B5EF4-FFF2-40B4-BE49-F238E27FC236}">
                <a16:creationId xmlns:a16="http://schemas.microsoft.com/office/drawing/2014/main" id="{C09F2B2F-492A-445C-A0E1-3B6A37C13E0B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110966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A durable memory record is evidence—not a text blob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8FE9D610-3C29-44A1-A81A-979CEDA8CD93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11252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13">
            <a:extLst>
              <a:ext uri="{FF2B5EF4-FFF2-40B4-BE49-F238E27FC236}">
                <a16:creationId xmlns:a16="http://schemas.microsoft.com/office/drawing/2014/main" id="{D5A53A70-13A2-46AA-861B-F050D6EF3D98}"/>
              </a:ext>
            </a:extLst>
          </p:cNvPr>
          <p:cNvSpPr>
            <a:spLocks noGrp="1"/>
          </p:cNvSpPr>
          <p:nvPr/>
        </p:nvSpPr>
        <p:spPr>
          <a:xfrm>
            <a:off x="11182350" y="64103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" name="record-left-0">
            <a:extLst>
              <a:ext uri="{FF2B5EF4-FFF2-40B4-BE49-F238E27FC236}">
                <a16:creationId xmlns:a16="http://schemas.microsoft.com/office/drawing/2014/main" id="{D0E2E8D5-8D17-4588-B643-CAC88271B979}"/>
              </a:ext>
            </a:extLst>
          </p:cNvPr>
          <p:cNvSpPr>
            <a:spLocks noGrp="1"/>
          </p:cNvSpPr>
          <p:nvPr/>
        </p:nvSpPr>
        <p:spPr>
          <a:xfrm>
            <a:off x="457200" y="18859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Identity</a:t>
            </a:r>
          </a:p>
        </p:txBody>
      </p:sp>
      <p:sp>
        <p:nvSpPr>
          <p:cNvPr id="6" name="record-right-0">
            <a:extLst>
              <a:ext uri="{FF2B5EF4-FFF2-40B4-BE49-F238E27FC236}">
                <a16:creationId xmlns:a16="http://schemas.microsoft.com/office/drawing/2014/main" id="{AA58E724-7FF9-45F6-81B8-80E2987C3179}"/>
              </a:ext>
            </a:extLst>
          </p:cNvPr>
          <p:cNvSpPr>
            <a:spLocks noGrp="1"/>
          </p:cNvSpPr>
          <p:nvPr/>
        </p:nvSpPr>
        <p:spPr>
          <a:xfrm>
            <a:off x="2724150" y="1885950"/>
            <a:ext cx="790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memory_id, kind, subject, key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60FEA428-08C4-41A8-A3D8-488AB26E4561}"/>
              </a:ext>
            </a:extLst>
          </p:cNvPr>
          <p:cNvSpPr>
            <a:spLocks noGrp="1"/>
          </p:cNvSpPr>
          <p:nvPr/>
        </p:nvSpPr>
        <p:spPr>
          <a:xfrm>
            <a:off x="457200" y="2295525"/>
            <a:ext cx="111252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ord-left-1">
            <a:extLst>
              <a:ext uri="{FF2B5EF4-FFF2-40B4-BE49-F238E27FC236}">
                <a16:creationId xmlns:a16="http://schemas.microsoft.com/office/drawing/2014/main" id="{86FA1917-EFEB-4907-82D9-A4666DCBF20C}"/>
              </a:ext>
            </a:extLst>
          </p:cNvPr>
          <p:cNvSpPr>
            <a:spLocks noGrp="1"/>
          </p:cNvSpPr>
          <p:nvPr/>
        </p:nvSpPr>
        <p:spPr>
          <a:xfrm>
            <a:off x="457200" y="24384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Scope</a:t>
            </a:r>
          </a:p>
        </p:txBody>
      </p:sp>
      <p:sp>
        <p:nvSpPr>
          <p:cNvPr id="9" name="record-right-1">
            <a:extLst>
              <a:ext uri="{FF2B5EF4-FFF2-40B4-BE49-F238E27FC236}">
                <a16:creationId xmlns:a16="http://schemas.microsoft.com/office/drawing/2014/main" id="{50B77896-C792-48E8-B458-2DD083BE0BD5}"/>
              </a:ext>
            </a:extLst>
          </p:cNvPr>
          <p:cNvSpPr>
            <a:spLocks noGrp="1"/>
          </p:cNvSpPr>
          <p:nvPr/>
        </p:nvSpPr>
        <p:spPr>
          <a:xfrm>
            <a:off x="2724150" y="2438400"/>
            <a:ext cx="790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tenant, user, agent, purpose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281FB91F-D91C-42B6-AD82-5AB6379CF05B}"/>
              </a:ext>
            </a:extLst>
          </p:cNvPr>
          <p:cNvSpPr>
            <a:spLocks noGrp="1"/>
          </p:cNvSpPr>
          <p:nvPr/>
        </p:nvSpPr>
        <p:spPr>
          <a:xfrm>
            <a:off x="457200" y="2847975"/>
            <a:ext cx="111252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ord-left-2">
            <a:extLst>
              <a:ext uri="{FF2B5EF4-FFF2-40B4-BE49-F238E27FC236}">
                <a16:creationId xmlns:a16="http://schemas.microsoft.com/office/drawing/2014/main" id="{F7AA5AA8-B7F1-4F80-8B58-5C45EE6404CB}"/>
              </a:ext>
            </a:extLst>
          </p:cNvPr>
          <p:cNvSpPr>
            <a:spLocks noGrp="1"/>
          </p:cNvSpPr>
          <p:nvPr/>
        </p:nvSpPr>
        <p:spPr>
          <a:xfrm>
            <a:off x="457200" y="29908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Provenance</a:t>
            </a:r>
          </a:p>
        </p:txBody>
      </p:sp>
      <p:sp>
        <p:nvSpPr>
          <p:cNvPr id="12" name="record-right-2">
            <a:extLst>
              <a:ext uri="{FF2B5EF4-FFF2-40B4-BE49-F238E27FC236}">
                <a16:creationId xmlns:a16="http://schemas.microsoft.com/office/drawing/2014/main" id="{27BAAAFC-9929-4CCB-90E5-E5984F5FF0DF}"/>
              </a:ext>
            </a:extLst>
          </p:cNvPr>
          <p:cNvSpPr>
            <a:spLocks noGrp="1"/>
          </p:cNvSpPr>
          <p:nvPr/>
        </p:nvSpPr>
        <p:spPr>
          <a:xfrm>
            <a:off x="2724150" y="2990850"/>
            <a:ext cx="790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source kind/id, actor, observed time, evidence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8393F2B0-3C4C-40F9-BD57-3ADCC4250991}"/>
              </a:ext>
            </a:extLst>
          </p:cNvPr>
          <p:cNvSpPr>
            <a:spLocks noGrp="1"/>
          </p:cNvSpPr>
          <p:nvPr/>
        </p:nvSpPr>
        <p:spPr>
          <a:xfrm>
            <a:off x="457200" y="3400425"/>
            <a:ext cx="111252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ord-left-3">
            <a:extLst>
              <a:ext uri="{FF2B5EF4-FFF2-40B4-BE49-F238E27FC236}">
                <a16:creationId xmlns:a16="http://schemas.microsoft.com/office/drawing/2014/main" id="{3599D292-DDA4-4171-954E-37A63415BE2C}"/>
              </a:ext>
            </a:extLst>
          </p:cNvPr>
          <p:cNvSpPr>
            <a:spLocks noGrp="1"/>
          </p:cNvSpPr>
          <p:nvPr/>
        </p:nvSpPr>
        <p:spPr>
          <a:xfrm>
            <a:off x="457200" y="35433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Policy</a:t>
            </a:r>
          </a:p>
        </p:txBody>
      </p:sp>
      <p:sp>
        <p:nvSpPr>
          <p:cNvPr id="15" name="record-right-3">
            <a:extLst>
              <a:ext uri="{FF2B5EF4-FFF2-40B4-BE49-F238E27FC236}">
                <a16:creationId xmlns:a16="http://schemas.microsoft.com/office/drawing/2014/main" id="{CBA40E3D-D0FD-41FD-8650-213EF0246E02}"/>
              </a:ext>
            </a:extLst>
          </p:cNvPr>
          <p:cNvSpPr>
            <a:spLocks noGrp="1"/>
          </p:cNvSpPr>
          <p:nvPr/>
        </p:nvSpPr>
        <p:spPr>
          <a:xfrm>
            <a:off x="2724150" y="3543300"/>
            <a:ext cx="790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confidence, sensitivity, writer authority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0A1FFE89-12EB-4A9B-84C6-388BB9C096AA}"/>
              </a:ext>
            </a:extLst>
          </p:cNvPr>
          <p:cNvSpPr>
            <a:spLocks noGrp="1"/>
          </p:cNvSpPr>
          <p:nvPr/>
        </p:nvSpPr>
        <p:spPr>
          <a:xfrm>
            <a:off x="457200" y="3952875"/>
            <a:ext cx="111252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ord-left-4">
            <a:extLst>
              <a:ext uri="{FF2B5EF4-FFF2-40B4-BE49-F238E27FC236}">
                <a16:creationId xmlns:a16="http://schemas.microsoft.com/office/drawing/2014/main" id="{60F4479E-B634-4715-BE6F-C3848F1D3208}"/>
              </a:ext>
            </a:extLst>
          </p:cNvPr>
          <p:cNvSpPr>
            <a:spLocks noGrp="1"/>
          </p:cNvSpPr>
          <p:nvPr/>
        </p:nvSpPr>
        <p:spPr>
          <a:xfrm>
            <a:off x="457200" y="40957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Time</a:t>
            </a:r>
          </a:p>
        </p:txBody>
      </p:sp>
      <p:sp>
        <p:nvSpPr>
          <p:cNvPr id="18" name="record-right-4">
            <a:extLst>
              <a:ext uri="{FF2B5EF4-FFF2-40B4-BE49-F238E27FC236}">
                <a16:creationId xmlns:a16="http://schemas.microsoft.com/office/drawing/2014/main" id="{F4646529-CD1C-448E-B8CC-C2349E5381EB}"/>
              </a:ext>
            </a:extLst>
          </p:cNvPr>
          <p:cNvSpPr>
            <a:spLocks noGrp="1"/>
          </p:cNvSpPr>
          <p:nvPr/>
        </p:nvSpPr>
        <p:spPr>
          <a:xfrm>
            <a:off x="2724150" y="4095750"/>
            <a:ext cx="790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valid from/to, expiry, created time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BFAD18C8-6B40-41A4-B87C-602BA852ACCF}"/>
              </a:ext>
            </a:extLst>
          </p:cNvPr>
          <p:cNvSpPr>
            <a:spLocks noGrp="1"/>
          </p:cNvSpPr>
          <p:nvPr/>
        </p:nvSpPr>
        <p:spPr>
          <a:xfrm>
            <a:off x="457200" y="4505325"/>
            <a:ext cx="111252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ord-left-5">
            <a:extLst>
              <a:ext uri="{FF2B5EF4-FFF2-40B4-BE49-F238E27FC236}">
                <a16:creationId xmlns:a16="http://schemas.microsoft.com/office/drawing/2014/main" id="{8D6EEEEA-813E-4483-B3AE-040DE52AFA5C}"/>
              </a:ext>
            </a:extLst>
          </p:cNvPr>
          <p:cNvSpPr>
            <a:spLocks noGrp="1"/>
          </p:cNvSpPr>
          <p:nvPr/>
        </p:nvSpPr>
        <p:spPr>
          <a:xfrm>
            <a:off x="457200" y="46482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Version</a:t>
            </a:r>
          </a:p>
        </p:txBody>
      </p:sp>
      <p:sp>
        <p:nvSpPr>
          <p:cNvPr id="21" name="record-right-5">
            <a:extLst>
              <a:ext uri="{FF2B5EF4-FFF2-40B4-BE49-F238E27FC236}">
                <a16:creationId xmlns:a16="http://schemas.microsoft.com/office/drawing/2014/main" id="{E4C8D389-B331-4AF3-AF9D-CE957F023D87}"/>
              </a:ext>
            </a:extLst>
          </p:cNvPr>
          <p:cNvSpPr>
            <a:spLocks noGrp="1"/>
          </p:cNvSpPr>
          <p:nvPr/>
        </p:nvSpPr>
        <p:spPr>
          <a:xfrm>
            <a:off x="2724150" y="4648200"/>
            <a:ext cx="790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status, supersedes_id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3111F7A5-7451-4396-9425-BA4AD12B5477}"/>
              </a:ext>
            </a:extLst>
          </p:cNvPr>
          <p:cNvSpPr>
            <a:spLocks noGrp="1"/>
          </p:cNvSpPr>
          <p:nvPr/>
        </p:nvSpPr>
        <p:spPr>
          <a:xfrm>
            <a:off x="457200" y="5057775"/>
            <a:ext cx="111252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ord-left-6">
            <a:extLst>
              <a:ext uri="{FF2B5EF4-FFF2-40B4-BE49-F238E27FC236}">
                <a16:creationId xmlns:a16="http://schemas.microsoft.com/office/drawing/2014/main" id="{7537DD1E-65E4-46FE-A3F4-68092C56F0AC}"/>
              </a:ext>
            </a:extLst>
          </p:cNvPr>
          <p:cNvSpPr>
            <a:spLocks noGrp="1"/>
          </p:cNvSpPr>
          <p:nvPr/>
        </p:nvSpPr>
        <p:spPr>
          <a:xfrm>
            <a:off x="457200" y="52006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Derived</a:t>
            </a:r>
          </a:p>
        </p:txBody>
      </p:sp>
      <p:sp>
        <p:nvSpPr>
          <p:cNvPr id="24" name="record-right-6">
            <a:extLst>
              <a:ext uri="{FF2B5EF4-FFF2-40B4-BE49-F238E27FC236}">
                <a16:creationId xmlns:a16="http://schemas.microsoft.com/office/drawing/2014/main" id="{A47FADFF-BD31-4C46-80A6-0E17DA04F6A5}"/>
              </a:ext>
            </a:extLst>
          </p:cNvPr>
          <p:cNvSpPr>
            <a:spLocks noGrp="1"/>
          </p:cNvSpPr>
          <p:nvPr/>
        </p:nvSpPr>
        <p:spPr>
          <a:xfrm>
            <a:off x="2724150" y="5200650"/>
            <a:ext cx="790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embedding / search index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0F1EF5F2-0DFC-4B7B-B26C-87A1B554C7FA}"/>
              </a:ext>
            </a:extLst>
          </p:cNvPr>
          <p:cNvSpPr>
            <a:spLocks noGrp="1"/>
          </p:cNvSpPr>
          <p:nvPr/>
        </p:nvSpPr>
        <p:spPr>
          <a:xfrm>
            <a:off x="457200" y="5610225"/>
            <a:ext cx="111252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462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eyebrow-14">
            <a:extLst>
              <a:ext uri="{FF2B5EF4-FFF2-40B4-BE49-F238E27FC236}">
                <a16:creationId xmlns:a16="http://schemas.microsoft.com/office/drawing/2014/main" id="{9D72150A-9D1A-4295-AE2F-D0DBF41E18A6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GOVERNED PERSISTENT MEMORY</a:t>
            </a:r>
          </a:p>
        </p:txBody>
      </p:sp>
      <p:sp>
        <p:nvSpPr>
          <p:cNvPr id="2" name="title-14">
            <a:extLst>
              <a:ext uri="{FF2B5EF4-FFF2-40B4-BE49-F238E27FC236}">
                <a16:creationId xmlns:a16="http://schemas.microsoft.com/office/drawing/2014/main" id="{2479933F-DC3C-43A2-9896-F13F28DD11D8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110966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Every durable write passes the same governed pipeline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5D3EE0E1-9515-4134-A350-3FD37959B448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11252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14">
            <a:extLst>
              <a:ext uri="{FF2B5EF4-FFF2-40B4-BE49-F238E27FC236}">
                <a16:creationId xmlns:a16="http://schemas.microsoft.com/office/drawing/2014/main" id="{019CFAEA-3C98-46C3-9BCE-92378B71DEBB}"/>
              </a:ext>
            </a:extLst>
          </p:cNvPr>
          <p:cNvSpPr>
            <a:spLocks noGrp="1"/>
          </p:cNvSpPr>
          <p:nvPr/>
        </p:nvSpPr>
        <p:spPr>
          <a:xfrm>
            <a:off x="11182350" y="64103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" name="write-num-0">
            <a:extLst>
              <a:ext uri="{FF2B5EF4-FFF2-40B4-BE49-F238E27FC236}">
                <a16:creationId xmlns:a16="http://schemas.microsoft.com/office/drawing/2014/main" id="{993619B6-93B9-463B-9F4B-822B8F758238}"/>
              </a:ext>
            </a:extLst>
          </p:cNvPr>
          <p:cNvSpPr>
            <a:spLocks noGrp="1"/>
          </p:cNvSpPr>
          <p:nvPr/>
        </p:nvSpPr>
        <p:spPr>
          <a:xfrm>
            <a:off x="457200" y="21907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write-step-0">
            <a:extLst>
              <a:ext uri="{FF2B5EF4-FFF2-40B4-BE49-F238E27FC236}">
                <a16:creationId xmlns:a16="http://schemas.microsoft.com/office/drawing/2014/main" id="{9D91EEDF-6295-4940-A37F-8C58B671512F}"/>
              </a:ext>
            </a:extLst>
          </p:cNvPr>
          <p:cNvSpPr>
            <a:spLocks noGrp="1"/>
          </p:cNvSpPr>
          <p:nvPr/>
        </p:nvSpPr>
        <p:spPr>
          <a:xfrm>
            <a:off x="457200" y="2609850"/>
            <a:ext cx="2333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Validate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2416F42E-3CCD-48CF-82B8-C299203DD730}"/>
              </a:ext>
            </a:extLst>
          </p:cNvPr>
          <p:cNvSpPr>
            <a:spLocks noGrp="1"/>
          </p:cNvSpPr>
          <p:nvPr/>
        </p:nvSpPr>
        <p:spPr>
          <a:xfrm>
            <a:off x="457200" y="3295650"/>
            <a:ext cx="2333625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write-num-1">
            <a:extLst>
              <a:ext uri="{FF2B5EF4-FFF2-40B4-BE49-F238E27FC236}">
                <a16:creationId xmlns:a16="http://schemas.microsoft.com/office/drawing/2014/main" id="{A29D3571-38EC-4A4E-9065-633B369A9532}"/>
              </a:ext>
            </a:extLst>
          </p:cNvPr>
          <p:cNvSpPr>
            <a:spLocks noGrp="1"/>
          </p:cNvSpPr>
          <p:nvPr/>
        </p:nvSpPr>
        <p:spPr>
          <a:xfrm>
            <a:off x="3219450" y="21907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write-step-1">
            <a:extLst>
              <a:ext uri="{FF2B5EF4-FFF2-40B4-BE49-F238E27FC236}">
                <a16:creationId xmlns:a16="http://schemas.microsoft.com/office/drawing/2014/main" id="{C0AC1F46-6C9A-4A1A-99CB-256FC723C7CF}"/>
              </a:ext>
            </a:extLst>
          </p:cNvPr>
          <p:cNvSpPr>
            <a:spLocks noGrp="1"/>
          </p:cNvSpPr>
          <p:nvPr/>
        </p:nvSpPr>
        <p:spPr>
          <a:xfrm>
            <a:off x="3219450" y="2609850"/>
            <a:ext cx="2333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Classify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488A22A2-41E8-4FF7-9544-C6DA8540556B}"/>
              </a:ext>
            </a:extLst>
          </p:cNvPr>
          <p:cNvSpPr>
            <a:spLocks noGrp="1"/>
          </p:cNvSpPr>
          <p:nvPr/>
        </p:nvSpPr>
        <p:spPr>
          <a:xfrm>
            <a:off x="3219450" y="3295650"/>
            <a:ext cx="2333625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write-num-2">
            <a:extLst>
              <a:ext uri="{FF2B5EF4-FFF2-40B4-BE49-F238E27FC236}">
                <a16:creationId xmlns:a16="http://schemas.microsoft.com/office/drawing/2014/main" id="{33E227A3-09B4-468A-8F8A-98EAF038D093}"/>
              </a:ext>
            </a:extLst>
          </p:cNvPr>
          <p:cNvSpPr>
            <a:spLocks noGrp="1"/>
          </p:cNvSpPr>
          <p:nvPr/>
        </p:nvSpPr>
        <p:spPr>
          <a:xfrm>
            <a:off x="5981700" y="21907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write-step-2">
            <a:extLst>
              <a:ext uri="{FF2B5EF4-FFF2-40B4-BE49-F238E27FC236}">
                <a16:creationId xmlns:a16="http://schemas.microsoft.com/office/drawing/2014/main" id="{FBB3BBF7-F75D-4DA1-AD17-04543FF3A10A}"/>
              </a:ext>
            </a:extLst>
          </p:cNvPr>
          <p:cNvSpPr>
            <a:spLocks noGrp="1"/>
          </p:cNvSpPr>
          <p:nvPr/>
        </p:nvSpPr>
        <p:spPr>
          <a:xfrm>
            <a:off x="5981700" y="2609850"/>
            <a:ext cx="2333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Authorize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1AEA5DD5-13BA-496E-9D90-5EDAB0565A50}"/>
              </a:ext>
            </a:extLst>
          </p:cNvPr>
          <p:cNvSpPr>
            <a:spLocks noGrp="1"/>
          </p:cNvSpPr>
          <p:nvPr/>
        </p:nvSpPr>
        <p:spPr>
          <a:xfrm>
            <a:off x="5981700" y="3295650"/>
            <a:ext cx="2333625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write-num-3">
            <a:extLst>
              <a:ext uri="{FF2B5EF4-FFF2-40B4-BE49-F238E27FC236}">
                <a16:creationId xmlns:a16="http://schemas.microsoft.com/office/drawing/2014/main" id="{0F71BF66-168A-478C-9F4A-6C7C1C64F179}"/>
              </a:ext>
            </a:extLst>
          </p:cNvPr>
          <p:cNvSpPr>
            <a:spLocks noGrp="1"/>
          </p:cNvSpPr>
          <p:nvPr/>
        </p:nvSpPr>
        <p:spPr>
          <a:xfrm>
            <a:off x="8743950" y="21907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5" name="write-step-3">
            <a:extLst>
              <a:ext uri="{FF2B5EF4-FFF2-40B4-BE49-F238E27FC236}">
                <a16:creationId xmlns:a16="http://schemas.microsoft.com/office/drawing/2014/main" id="{39B4E934-6D21-4E89-B640-3A2D1BD12244}"/>
              </a:ext>
            </a:extLst>
          </p:cNvPr>
          <p:cNvSpPr>
            <a:spLocks noGrp="1"/>
          </p:cNvSpPr>
          <p:nvPr/>
        </p:nvSpPr>
        <p:spPr>
          <a:xfrm>
            <a:off x="8743950" y="2609850"/>
            <a:ext cx="2333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Deduplicate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B0BAAE67-6092-40C2-A1D2-63230B66E833}"/>
              </a:ext>
            </a:extLst>
          </p:cNvPr>
          <p:cNvSpPr>
            <a:spLocks noGrp="1"/>
          </p:cNvSpPr>
          <p:nvPr/>
        </p:nvSpPr>
        <p:spPr>
          <a:xfrm>
            <a:off x="8743950" y="3295650"/>
            <a:ext cx="2333625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write-num-4">
            <a:extLst>
              <a:ext uri="{FF2B5EF4-FFF2-40B4-BE49-F238E27FC236}">
                <a16:creationId xmlns:a16="http://schemas.microsoft.com/office/drawing/2014/main" id="{84631D2A-DD52-4EDD-850A-5F652BE0F23D}"/>
              </a:ext>
            </a:extLst>
          </p:cNvPr>
          <p:cNvSpPr>
            <a:spLocks noGrp="1"/>
          </p:cNvSpPr>
          <p:nvPr/>
        </p:nvSpPr>
        <p:spPr>
          <a:xfrm>
            <a:off x="457200" y="4191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8" name="write-step-4">
            <a:extLst>
              <a:ext uri="{FF2B5EF4-FFF2-40B4-BE49-F238E27FC236}">
                <a16:creationId xmlns:a16="http://schemas.microsoft.com/office/drawing/2014/main" id="{BFCCC950-44DF-4188-B05E-16611C4FF42E}"/>
              </a:ext>
            </a:extLst>
          </p:cNvPr>
          <p:cNvSpPr>
            <a:spLocks noGrp="1"/>
          </p:cNvSpPr>
          <p:nvPr/>
        </p:nvSpPr>
        <p:spPr>
          <a:xfrm>
            <a:off x="457200" y="4610100"/>
            <a:ext cx="2333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Resolve conflict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168ADD8C-C3C9-4C89-BFAA-507ED0CA0BD5}"/>
              </a:ext>
            </a:extLst>
          </p:cNvPr>
          <p:cNvSpPr>
            <a:spLocks noGrp="1"/>
          </p:cNvSpPr>
          <p:nvPr/>
        </p:nvSpPr>
        <p:spPr>
          <a:xfrm>
            <a:off x="457200" y="5295900"/>
            <a:ext cx="2333625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write-num-5">
            <a:extLst>
              <a:ext uri="{FF2B5EF4-FFF2-40B4-BE49-F238E27FC236}">
                <a16:creationId xmlns:a16="http://schemas.microsoft.com/office/drawing/2014/main" id="{173CD615-D76F-4532-B654-065A6701D283}"/>
              </a:ext>
            </a:extLst>
          </p:cNvPr>
          <p:cNvSpPr>
            <a:spLocks noGrp="1"/>
          </p:cNvSpPr>
          <p:nvPr/>
        </p:nvSpPr>
        <p:spPr>
          <a:xfrm>
            <a:off x="3219450" y="4191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1" name="write-step-5">
            <a:extLst>
              <a:ext uri="{FF2B5EF4-FFF2-40B4-BE49-F238E27FC236}">
                <a16:creationId xmlns:a16="http://schemas.microsoft.com/office/drawing/2014/main" id="{F1455D5E-0953-4ED4-88B1-967505950F2D}"/>
              </a:ext>
            </a:extLst>
          </p:cNvPr>
          <p:cNvSpPr>
            <a:spLocks noGrp="1"/>
          </p:cNvSpPr>
          <p:nvPr/>
        </p:nvSpPr>
        <p:spPr>
          <a:xfrm>
            <a:off x="3219450" y="4610100"/>
            <a:ext cx="2333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Apply lifecycle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2706494C-62B6-49EF-8D4E-A28DBD4D2FD2}"/>
              </a:ext>
            </a:extLst>
          </p:cNvPr>
          <p:cNvSpPr>
            <a:spLocks noGrp="1"/>
          </p:cNvSpPr>
          <p:nvPr/>
        </p:nvSpPr>
        <p:spPr>
          <a:xfrm>
            <a:off x="3219450" y="5295900"/>
            <a:ext cx="2333625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write-num-6">
            <a:extLst>
              <a:ext uri="{FF2B5EF4-FFF2-40B4-BE49-F238E27FC236}">
                <a16:creationId xmlns:a16="http://schemas.microsoft.com/office/drawing/2014/main" id="{1F3B8671-2CCF-4054-8270-EC87394252B4}"/>
              </a:ext>
            </a:extLst>
          </p:cNvPr>
          <p:cNvSpPr>
            <a:spLocks noGrp="1"/>
          </p:cNvSpPr>
          <p:nvPr/>
        </p:nvSpPr>
        <p:spPr>
          <a:xfrm>
            <a:off x="5981700" y="4191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24" name="write-step-6">
            <a:extLst>
              <a:ext uri="{FF2B5EF4-FFF2-40B4-BE49-F238E27FC236}">
                <a16:creationId xmlns:a16="http://schemas.microsoft.com/office/drawing/2014/main" id="{CBF5B898-12BA-40AD-B7AE-9EFC4C29A3C9}"/>
              </a:ext>
            </a:extLst>
          </p:cNvPr>
          <p:cNvSpPr>
            <a:spLocks noGrp="1"/>
          </p:cNvSpPr>
          <p:nvPr/>
        </p:nvSpPr>
        <p:spPr>
          <a:xfrm>
            <a:off x="5981700" y="4610100"/>
            <a:ext cx="2333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Store + audit</a:t>
            </a:r>
          </a:p>
        </p:txBody>
      </p:sp>
      <p:sp>
        <p:nvSpPr>
          <p:cNvPr id="25" name="write-law">
            <a:extLst>
              <a:ext uri="{FF2B5EF4-FFF2-40B4-BE49-F238E27FC236}">
                <a16:creationId xmlns:a16="http://schemas.microsoft.com/office/drawing/2014/main" id="{A30494C9-736A-4BC8-8C95-5F28067A661B}"/>
              </a:ext>
            </a:extLst>
          </p:cNvPr>
          <p:cNvSpPr>
            <a:spLocks noGrp="1"/>
          </p:cNvSpPr>
          <p:nvPr/>
        </p:nvSpPr>
        <p:spPr>
          <a:xfrm>
            <a:off x="8743950" y="4095750"/>
            <a:ext cx="2838450" cy="1390650"/>
          </a:xfrm>
          <a:prstGeom prst="rect">
            <a:avLst/>
          </a:prstGeom>
          <a:solidFill>
            <a:srgbClr val="D0ED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write-law-text">
            <a:extLst>
              <a:ext uri="{FF2B5EF4-FFF2-40B4-BE49-F238E27FC236}">
                <a16:creationId xmlns:a16="http://schemas.microsoft.com/office/drawing/2014/main" id="{A1E68E77-1D20-44E2-8CCA-7BAF8E9926E4}"/>
              </a:ext>
            </a:extLst>
          </p:cNvPr>
          <p:cNvSpPr>
            <a:spLocks noGrp="1"/>
          </p:cNvSpPr>
          <p:nvPr/>
        </p:nvSpPr>
        <p:spPr>
          <a:xfrm>
            <a:off x="9010650" y="4371975"/>
            <a:ext cx="233362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626"/>
          </a:bodyPr>
          <a:lstStyle/>
          <a:p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The model proposes.</a:t>
            </a:r>
          </a:p>
          <a:p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Policy decides.</a:t>
            </a:r>
          </a:p>
          <a:p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Code stores.</a:t>
            </a:r>
          </a:p>
        </p:txBody>
      </p:sp>
    </p:spTree>
    <p:extLst>
      <p:ext uri="{BB962C8B-B14F-4D97-AF65-F5344CB8AC3E}">
        <p14:creationId xmlns:p14="http://schemas.microsoft.com/office/powerpoint/2010/main" val="6812777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yebrow-15">
            <a:extLst>
              <a:ext uri="{FF2B5EF4-FFF2-40B4-BE49-F238E27FC236}">
                <a16:creationId xmlns:a16="http://schemas.microsoft.com/office/drawing/2014/main" id="{D1C7B8F4-060F-48E4-884B-C09C035E2D76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GOVERNED PERSISTENT MEMORY</a:t>
            </a:r>
          </a:p>
        </p:txBody>
      </p:sp>
      <p:sp>
        <p:nvSpPr>
          <p:cNvPr id="2" name="title-15">
            <a:extLst>
              <a:ext uri="{FF2B5EF4-FFF2-40B4-BE49-F238E27FC236}">
                <a16:creationId xmlns:a16="http://schemas.microsoft.com/office/drawing/2014/main" id="{D8B3C830-E105-4BFB-83F9-56D3766FAC68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110966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Provenance separates observation from inference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83D636E5-F78D-4CD0-823F-660E27518E62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11252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15">
            <a:extLst>
              <a:ext uri="{FF2B5EF4-FFF2-40B4-BE49-F238E27FC236}">
                <a16:creationId xmlns:a16="http://schemas.microsoft.com/office/drawing/2014/main" id="{0139E1F0-A0CC-43D9-BBA1-9AE8D25CE051}"/>
              </a:ext>
            </a:extLst>
          </p:cNvPr>
          <p:cNvSpPr>
            <a:spLocks noGrp="1"/>
          </p:cNvSpPr>
          <p:nvPr/>
        </p:nvSpPr>
        <p:spPr>
          <a:xfrm>
            <a:off x="11182350" y="64103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" name="prov-accepted-head">
            <a:extLst>
              <a:ext uri="{FF2B5EF4-FFF2-40B4-BE49-F238E27FC236}">
                <a16:creationId xmlns:a16="http://schemas.microsoft.com/office/drawing/2014/main" id="{BD6C7981-6EA2-460B-BD91-8C1FA0208B4B}"/>
              </a:ext>
            </a:extLst>
          </p:cNvPr>
          <p:cNvSpPr>
            <a:spLocks noGrp="1"/>
          </p:cNvSpPr>
          <p:nvPr/>
        </p:nvSpPr>
        <p:spPr>
          <a:xfrm>
            <a:off x="457200" y="195262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37A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37A4B"/>
                </a:solidFill>
                <a:latin typeface="Helvetica Neue"/>
                <a:ea typeface="Helvetica Neue"/>
                <a:cs typeface="Helvetica Neue"/>
              </a:rPr>
              <a:t>ADMISSIBLE</a:t>
            </a:r>
          </a:p>
        </p:txBody>
      </p:sp>
      <p:sp>
        <p:nvSpPr>
          <p:cNvPr id="6" name="prov-accepted">
            <a:extLst>
              <a:ext uri="{FF2B5EF4-FFF2-40B4-BE49-F238E27FC236}">
                <a16:creationId xmlns:a16="http://schemas.microsoft.com/office/drawing/2014/main" id="{D7B7280E-E3CD-499B-8380-2A1BE81B18DA}"/>
              </a:ext>
            </a:extLst>
          </p:cNvPr>
          <p:cNvSpPr>
            <a:spLocks noGrp="1"/>
          </p:cNvSpPr>
          <p:nvPr/>
        </p:nvSpPr>
        <p:spPr>
          <a:xfrm>
            <a:off x="457200" y="2476500"/>
            <a:ext cx="47625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User explicitly states a preference</a:t>
            </a:r>
          </a:p>
          <a:p>
            <a:pPr algn="l">
              <a:defRPr sz="18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Verified system-of-record event</a:t>
            </a:r>
          </a:p>
          <a:p>
            <a:pPr algn="l">
              <a:defRPr sz="18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Reviewed organizational publication</a:t>
            </a:r>
          </a:p>
          <a:p>
            <a:pPr algn="l">
              <a:defRPr sz="18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Approved procedural change</a:t>
            </a:r>
          </a:p>
        </p:txBody>
      </p:sp>
      <p:sp>
        <p:nvSpPr>
          <p:cNvPr id="7" name="prov-rejected-head">
            <a:extLst>
              <a:ext uri="{FF2B5EF4-FFF2-40B4-BE49-F238E27FC236}">
                <a16:creationId xmlns:a16="http://schemas.microsoft.com/office/drawing/2014/main" id="{0977BB50-A9D8-436A-8393-7E1C48CA20BE}"/>
              </a:ext>
            </a:extLst>
          </p:cNvPr>
          <p:cNvSpPr>
            <a:spLocks noGrp="1"/>
          </p:cNvSpPr>
          <p:nvPr/>
        </p:nvSpPr>
        <p:spPr>
          <a:xfrm>
            <a:off x="6477000" y="195262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REJECT OR REVIEW</a:t>
            </a:r>
          </a:p>
        </p:txBody>
      </p:sp>
      <p:sp>
        <p:nvSpPr>
          <p:cNvPr id="8" name="prov-rejected">
            <a:extLst>
              <a:ext uri="{FF2B5EF4-FFF2-40B4-BE49-F238E27FC236}">
                <a16:creationId xmlns:a16="http://schemas.microsoft.com/office/drawing/2014/main" id="{3A785F05-6285-4E25-949E-8A8B299CBEC2}"/>
              </a:ext>
            </a:extLst>
          </p:cNvPr>
          <p:cNvSpPr>
            <a:spLocks noGrp="1"/>
          </p:cNvSpPr>
          <p:nvPr/>
        </p:nvSpPr>
        <p:spPr>
          <a:xfrm>
            <a:off x="6477000" y="2476500"/>
            <a:ext cx="48577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Model inference without evidence</a:t>
            </a:r>
          </a:p>
          <a:p>
            <a:pPr algn="l">
              <a:defRPr sz="18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Secret or regulated data</a:t>
            </a:r>
          </a:p>
          <a:p>
            <a:pPr algn="l">
              <a:defRPr sz="18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Mutable business fact from chat</a:t>
            </a:r>
          </a:p>
          <a:p>
            <a:pPr algn="l">
              <a:defRPr sz="18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Procedure rewritten by the agent</a:t>
            </a:r>
          </a:p>
        </p:txBody>
      </p:sp>
      <p:sp>
        <p:nvSpPr>
          <p:cNvPr id="9" name="prov-question">
            <a:extLst>
              <a:ext uri="{FF2B5EF4-FFF2-40B4-BE49-F238E27FC236}">
                <a16:creationId xmlns:a16="http://schemas.microsoft.com/office/drawing/2014/main" id="{37F11C1D-9AA5-46F9-B1F3-ADE436543AB9}"/>
              </a:ext>
            </a:extLst>
          </p:cNvPr>
          <p:cNvSpPr>
            <a:spLocks noGrp="1"/>
          </p:cNvSpPr>
          <p:nvPr/>
        </p:nvSpPr>
        <p:spPr>
          <a:xfrm>
            <a:off x="457200" y="4933950"/>
            <a:ext cx="10877550" cy="7429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prov-question-text">
            <a:extLst>
              <a:ext uri="{FF2B5EF4-FFF2-40B4-BE49-F238E27FC236}">
                <a16:creationId xmlns:a16="http://schemas.microsoft.com/office/drawing/2014/main" id="{4945BB31-266E-4B16-901E-6E3DE3AA6CF9}"/>
              </a:ext>
            </a:extLst>
          </p:cNvPr>
          <p:cNvSpPr>
            <a:spLocks noGrp="1"/>
          </p:cNvSpPr>
          <p:nvPr/>
        </p:nvSpPr>
        <p:spPr>
          <a:xfrm>
            <a:off x="704850" y="5162550"/>
            <a:ext cx="1028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Ask of every candidate: who observed this, where, when, under what authority, and may it still be true?</a:t>
            </a:r>
          </a:p>
        </p:txBody>
      </p:sp>
    </p:spTree>
    <p:extLst>
      <p:ext uri="{BB962C8B-B14F-4D97-AF65-F5344CB8AC3E}">
        <p14:creationId xmlns:p14="http://schemas.microsoft.com/office/powerpoint/2010/main" val="19069358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yebrow-16">
            <a:extLst>
              <a:ext uri="{FF2B5EF4-FFF2-40B4-BE49-F238E27FC236}">
                <a16:creationId xmlns:a16="http://schemas.microsoft.com/office/drawing/2014/main" id="{464A788C-8E1F-4D9E-BEE1-9FC312835F02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GOVERNED PERSISTENT MEMORY</a:t>
            </a:r>
          </a:p>
        </p:txBody>
      </p:sp>
      <p:sp>
        <p:nvSpPr>
          <p:cNvPr id="2" name="title-16">
            <a:extLst>
              <a:ext uri="{FF2B5EF4-FFF2-40B4-BE49-F238E27FC236}">
                <a16:creationId xmlns:a16="http://schemas.microsoft.com/office/drawing/2014/main" id="{B52A3018-3E4F-4192-A821-75E76D07281F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110966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Conflicts create lineage—never silent overwrite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8906A823-6E29-48C5-AD1B-7F601A28FB18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11252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16">
            <a:extLst>
              <a:ext uri="{FF2B5EF4-FFF2-40B4-BE49-F238E27FC236}">
                <a16:creationId xmlns:a16="http://schemas.microsoft.com/office/drawing/2014/main" id="{89EE5B54-26E2-43D7-BFCC-DEEB9A5AA328}"/>
              </a:ext>
            </a:extLst>
          </p:cNvPr>
          <p:cNvSpPr>
            <a:spLocks noGrp="1"/>
          </p:cNvSpPr>
          <p:nvPr/>
        </p:nvSpPr>
        <p:spPr>
          <a:xfrm>
            <a:off x="11182350" y="64103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A8607C0E-B7B3-4051-B202-5D47872E3E75}"/>
              </a:ext>
            </a:extLst>
          </p:cNvPr>
          <p:cNvSpPr>
            <a:spLocks noGrp="1"/>
          </p:cNvSpPr>
          <p:nvPr/>
        </p:nvSpPr>
        <p:spPr>
          <a:xfrm>
            <a:off x="914400" y="3371850"/>
            <a:ext cx="9810750" cy="0"/>
          </a:xfrm>
          <a:prstGeom prst="line">
            <a:avLst/>
          </a:prstGeom>
          <a:noFill/>
          <a:ln w="1905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nflict-dot-0">
            <a:extLst>
              <a:ext uri="{FF2B5EF4-FFF2-40B4-BE49-F238E27FC236}">
                <a16:creationId xmlns:a16="http://schemas.microsoft.com/office/drawing/2014/main" id="{EACB5EBD-4490-4AFA-BC62-CEE4A8FEDF4A}"/>
              </a:ext>
            </a:extLst>
          </p:cNvPr>
          <p:cNvSpPr>
            <a:spLocks noGrp="1"/>
          </p:cNvSpPr>
          <p:nvPr/>
        </p:nvSpPr>
        <p:spPr>
          <a:xfrm>
            <a:off x="914400" y="32575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nflict-time-0">
            <a:extLst>
              <a:ext uri="{FF2B5EF4-FFF2-40B4-BE49-F238E27FC236}">
                <a16:creationId xmlns:a16="http://schemas.microsoft.com/office/drawing/2014/main" id="{467758D0-C706-4B2F-8942-D27659C0D01B}"/>
              </a:ext>
            </a:extLst>
          </p:cNvPr>
          <p:cNvSpPr>
            <a:spLocks noGrp="1"/>
          </p:cNvSpPr>
          <p:nvPr/>
        </p:nvSpPr>
        <p:spPr>
          <a:xfrm>
            <a:off x="914400" y="264795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8" name="conflict-value-0">
            <a:extLst>
              <a:ext uri="{FF2B5EF4-FFF2-40B4-BE49-F238E27FC236}">
                <a16:creationId xmlns:a16="http://schemas.microsoft.com/office/drawing/2014/main" id="{EBA93D7B-9CFE-40B9-9969-09880C825441}"/>
              </a:ext>
            </a:extLst>
          </p:cNvPr>
          <p:cNvSpPr>
            <a:spLocks noGrp="1"/>
          </p:cNvSpPr>
          <p:nvPr/>
        </p:nvSpPr>
        <p:spPr>
          <a:xfrm>
            <a:off x="914400" y="3752850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email</a:t>
            </a:r>
          </a:p>
        </p:txBody>
      </p:sp>
      <p:sp>
        <p:nvSpPr>
          <p:cNvPr id="9" name="conflict-state-0">
            <a:extLst>
              <a:ext uri="{FF2B5EF4-FFF2-40B4-BE49-F238E27FC236}">
                <a16:creationId xmlns:a16="http://schemas.microsoft.com/office/drawing/2014/main" id="{FFF45770-F086-4F50-8807-B8B39DA2F082}"/>
              </a:ext>
            </a:extLst>
          </p:cNvPr>
          <p:cNvSpPr>
            <a:spLocks noGrp="1"/>
          </p:cNvSpPr>
          <p:nvPr/>
        </p:nvSpPr>
        <p:spPr>
          <a:xfrm>
            <a:off x="914400" y="4305300"/>
            <a:ext cx="266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active</a:t>
            </a:r>
          </a:p>
        </p:txBody>
      </p:sp>
      <p:sp>
        <p:nvSpPr>
          <p:cNvPr id="10" name="conflict-dot-1">
            <a:extLst>
              <a:ext uri="{FF2B5EF4-FFF2-40B4-BE49-F238E27FC236}">
                <a16:creationId xmlns:a16="http://schemas.microsoft.com/office/drawing/2014/main" id="{A57BDD7F-3BF1-4171-A180-A96CE2279DB2}"/>
              </a:ext>
            </a:extLst>
          </p:cNvPr>
          <p:cNvSpPr>
            <a:spLocks noGrp="1"/>
          </p:cNvSpPr>
          <p:nvPr/>
        </p:nvSpPr>
        <p:spPr>
          <a:xfrm>
            <a:off x="4362450" y="32575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onflict-time-1">
            <a:extLst>
              <a:ext uri="{FF2B5EF4-FFF2-40B4-BE49-F238E27FC236}">
                <a16:creationId xmlns:a16="http://schemas.microsoft.com/office/drawing/2014/main" id="{0C7AE81C-C531-4C8A-8818-8372CDAA9F59}"/>
              </a:ext>
            </a:extLst>
          </p:cNvPr>
          <p:cNvSpPr>
            <a:spLocks noGrp="1"/>
          </p:cNvSpPr>
          <p:nvPr/>
        </p:nvSpPr>
        <p:spPr>
          <a:xfrm>
            <a:off x="4362450" y="264795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10:05</a:t>
            </a:r>
          </a:p>
        </p:txBody>
      </p:sp>
      <p:sp>
        <p:nvSpPr>
          <p:cNvPr id="12" name="conflict-value-1">
            <a:extLst>
              <a:ext uri="{FF2B5EF4-FFF2-40B4-BE49-F238E27FC236}">
                <a16:creationId xmlns:a16="http://schemas.microsoft.com/office/drawing/2014/main" id="{6A6C05A8-B2E6-4F76-B4CE-2E9A743D7956}"/>
              </a:ext>
            </a:extLst>
          </p:cNvPr>
          <p:cNvSpPr>
            <a:spLocks noGrp="1"/>
          </p:cNvSpPr>
          <p:nvPr/>
        </p:nvSpPr>
        <p:spPr>
          <a:xfrm>
            <a:off x="4362450" y="3752850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email</a:t>
            </a:r>
          </a:p>
        </p:txBody>
      </p:sp>
      <p:sp>
        <p:nvSpPr>
          <p:cNvPr id="13" name="conflict-state-1">
            <a:extLst>
              <a:ext uri="{FF2B5EF4-FFF2-40B4-BE49-F238E27FC236}">
                <a16:creationId xmlns:a16="http://schemas.microsoft.com/office/drawing/2014/main" id="{2EC88680-20CB-4F49-A773-DD7FE633F55B}"/>
              </a:ext>
            </a:extLst>
          </p:cNvPr>
          <p:cNvSpPr>
            <a:spLocks noGrp="1"/>
          </p:cNvSpPr>
          <p:nvPr/>
        </p:nvSpPr>
        <p:spPr>
          <a:xfrm>
            <a:off x="4362450" y="4305300"/>
            <a:ext cx="266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deduplicated</a:t>
            </a:r>
          </a:p>
        </p:txBody>
      </p:sp>
      <p:sp>
        <p:nvSpPr>
          <p:cNvPr id="14" name="conflict-dot-2">
            <a:extLst>
              <a:ext uri="{FF2B5EF4-FFF2-40B4-BE49-F238E27FC236}">
                <a16:creationId xmlns:a16="http://schemas.microsoft.com/office/drawing/2014/main" id="{940F77C6-D780-4421-AAEC-4A300AF3EF98}"/>
              </a:ext>
            </a:extLst>
          </p:cNvPr>
          <p:cNvSpPr>
            <a:spLocks noGrp="1"/>
          </p:cNvSpPr>
          <p:nvPr/>
        </p:nvSpPr>
        <p:spPr>
          <a:xfrm>
            <a:off x="7810500" y="32575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conflict-time-2">
            <a:extLst>
              <a:ext uri="{FF2B5EF4-FFF2-40B4-BE49-F238E27FC236}">
                <a16:creationId xmlns:a16="http://schemas.microsoft.com/office/drawing/2014/main" id="{3AB35C32-D215-4B33-BE1E-5C171E0F75D6}"/>
              </a:ext>
            </a:extLst>
          </p:cNvPr>
          <p:cNvSpPr>
            <a:spLocks noGrp="1"/>
          </p:cNvSpPr>
          <p:nvPr/>
        </p:nvSpPr>
        <p:spPr>
          <a:xfrm>
            <a:off x="7810500" y="264795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10:11</a:t>
            </a:r>
          </a:p>
        </p:txBody>
      </p:sp>
      <p:sp>
        <p:nvSpPr>
          <p:cNvPr id="16" name="conflict-value-2">
            <a:extLst>
              <a:ext uri="{FF2B5EF4-FFF2-40B4-BE49-F238E27FC236}">
                <a16:creationId xmlns:a16="http://schemas.microsoft.com/office/drawing/2014/main" id="{2A33C926-7179-4BE9-B3DF-448BBA2A724A}"/>
              </a:ext>
            </a:extLst>
          </p:cNvPr>
          <p:cNvSpPr>
            <a:spLocks noGrp="1"/>
          </p:cNvSpPr>
          <p:nvPr/>
        </p:nvSpPr>
        <p:spPr>
          <a:xfrm>
            <a:off x="7810500" y="3752850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SMS</a:t>
            </a:r>
          </a:p>
        </p:txBody>
      </p:sp>
      <p:sp>
        <p:nvSpPr>
          <p:cNvPr id="17" name="conflict-state-2">
            <a:extLst>
              <a:ext uri="{FF2B5EF4-FFF2-40B4-BE49-F238E27FC236}">
                <a16:creationId xmlns:a16="http://schemas.microsoft.com/office/drawing/2014/main" id="{FD664023-2191-4A77-ABDA-99DE33C1329D}"/>
              </a:ext>
            </a:extLst>
          </p:cNvPr>
          <p:cNvSpPr>
            <a:spLocks noGrp="1"/>
          </p:cNvSpPr>
          <p:nvPr/>
        </p:nvSpPr>
        <p:spPr>
          <a:xfrm>
            <a:off x="7810500" y="4305300"/>
            <a:ext cx="266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supersedes email</a:t>
            </a:r>
          </a:p>
        </p:txBody>
      </p:sp>
      <p:sp>
        <p:nvSpPr>
          <p:cNvPr id="18" name="stale-event">
            <a:extLst>
              <a:ext uri="{FF2B5EF4-FFF2-40B4-BE49-F238E27FC236}">
                <a16:creationId xmlns:a16="http://schemas.microsoft.com/office/drawing/2014/main" id="{7BBC714D-2C5A-4B09-91D1-8E238A923422}"/>
              </a:ext>
            </a:extLst>
          </p:cNvPr>
          <p:cNvSpPr>
            <a:spLocks noGrp="1"/>
          </p:cNvSpPr>
          <p:nvPr/>
        </p:nvSpPr>
        <p:spPr>
          <a:xfrm>
            <a:off x="457200" y="5143500"/>
            <a:ext cx="10572750" cy="647700"/>
          </a:xfrm>
          <a:prstGeom prst="rect">
            <a:avLst/>
          </a:prstGeom>
          <a:solidFill>
            <a:srgbClr val="FCE8E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tale-event-text">
            <a:extLst>
              <a:ext uri="{FF2B5EF4-FFF2-40B4-BE49-F238E27FC236}">
                <a16:creationId xmlns:a16="http://schemas.microsoft.com/office/drawing/2014/main" id="{4D6DD806-1D2A-46B8-AA08-69F584008116}"/>
              </a:ext>
            </a:extLst>
          </p:cNvPr>
          <p:cNvSpPr>
            <a:spLocks noGrp="1"/>
          </p:cNvSpPr>
          <p:nvPr/>
        </p:nvSpPr>
        <p:spPr>
          <a:xfrm>
            <a:off x="704850" y="5324475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A delayed 09:58 ‘phone’ event is rejected as stale—it cannot roll truth backward.</a:t>
            </a:r>
          </a:p>
        </p:txBody>
      </p:sp>
    </p:spTree>
    <p:extLst>
      <p:ext uri="{BB962C8B-B14F-4D97-AF65-F5344CB8AC3E}">
        <p14:creationId xmlns:p14="http://schemas.microsoft.com/office/powerpoint/2010/main" val="8067848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eyebrow-17">
            <a:extLst>
              <a:ext uri="{FF2B5EF4-FFF2-40B4-BE49-F238E27FC236}">
                <a16:creationId xmlns:a16="http://schemas.microsoft.com/office/drawing/2014/main" id="{AAD1711A-2768-47C9-B34D-F6A1275B926B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GOVERNED PERSISTENT MEMORY</a:t>
            </a:r>
          </a:p>
        </p:txBody>
      </p:sp>
      <p:sp>
        <p:nvSpPr>
          <p:cNvPr id="2" name="title-17">
            <a:extLst>
              <a:ext uri="{FF2B5EF4-FFF2-40B4-BE49-F238E27FC236}">
                <a16:creationId xmlns:a16="http://schemas.microsoft.com/office/drawing/2014/main" id="{1C273656-549C-48BD-A61F-8DA646985670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110966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Scope before similarity is a security boundary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C93073AE-989C-41CC-B23A-B4636CD4AFAC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11252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17">
            <a:extLst>
              <a:ext uri="{FF2B5EF4-FFF2-40B4-BE49-F238E27FC236}">
                <a16:creationId xmlns:a16="http://schemas.microsoft.com/office/drawing/2014/main" id="{FD63E282-5565-463E-BD5D-7ACAD2D0C371}"/>
              </a:ext>
            </a:extLst>
          </p:cNvPr>
          <p:cNvSpPr>
            <a:spLocks noGrp="1"/>
          </p:cNvSpPr>
          <p:nvPr/>
        </p:nvSpPr>
        <p:spPr>
          <a:xfrm>
            <a:off x="11182350" y="64103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5" name="read-stage-num-0">
            <a:extLst>
              <a:ext uri="{FF2B5EF4-FFF2-40B4-BE49-F238E27FC236}">
                <a16:creationId xmlns:a16="http://schemas.microsoft.com/office/drawing/2014/main" id="{0653D44E-5180-4AB3-AC9E-401DBEBD670A}"/>
              </a:ext>
            </a:extLst>
          </p:cNvPr>
          <p:cNvSpPr>
            <a:spLocks noGrp="1"/>
          </p:cNvSpPr>
          <p:nvPr/>
        </p:nvSpPr>
        <p:spPr>
          <a:xfrm>
            <a:off x="457200" y="190500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ad-stage-num-text-0">
            <a:extLst>
              <a:ext uri="{FF2B5EF4-FFF2-40B4-BE49-F238E27FC236}">
                <a16:creationId xmlns:a16="http://schemas.microsoft.com/office/drawing/2014/main" id="{C51AF02F-C664-427E-A052-10B66FAA7ECE}"/>
              </a:ext>
            </a:extLst>
          </p:cNvPr>
          <p:cNvSpPr>
            <a:spLocks noGrp="1"/>
          </p:cNvSpPr>
          <p:nvPr/>
        </p:nvSpPr>
        <p:spPr>
          <a:xfrm>
            <a:off x="457200" y="19812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read-stage-title-0">
            <a:extLst>
              <a:ext uri="{FF2B5EF4-FFF2-40B4-BE49-F238E27FC236}">
                <a16:creationId xmlns:a16="http://schemas.microsoft.com/office/drawing/2014/main" id="{47572966-2629-40AF-9FD1-3363D5DDE5F2}"/>
              </a:ext>
            </a:extLst>
          </p:cNvPr>
          <p:cNvSpPr>
            <a:spLocks noGrp="1"/>
          </p:cNvSpPr>
          <p:nvPr/>
        </p:nvSpPr>
        <p:spPr>
          <a:xfrm>
            <a:off x="1162050" y="19431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Scope</a:t>
            </a:r>
          </a:p>
        </p:txBody>
      </p:sp>
      <p:sp>
        <p:nvSpPr>
          <p:cNvPr id="8" name="read-stage-body-0">
            <a:extLst>
              <a:ext uri="{FF2B5EF4-FFF2-40B4-BE49-F238E27FC236}">
                <a16:creationId xmlns:a16="http://schemas.microsoft.com/office/drawing/2014/main" id="{AA701D01-DA61-4101-8A36-5348EC7B090A}"/>
              </a:ext>
            </a:extLst>
          </p:cNvPr>
          <p:cNvSpPr>
            <a:spLocks noGrp="1"/>
          </p:cNvSpPr>
          <p:nvPr/>
        </p:nvSpPr>
        <p:spPr>
          <a:xfrm>
            <a:off x="3619500" y="1943100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tenant • user • agent • purpose</a:t>
            </a:r>
          </a:p>
        </p:txBody>
      </p:sp>
      <p:sp>
        <p:nvSpPr>
          <p:cNvPr id="9" name="read-stage-num-1">
            <a:extLst>
              <a:ext uri="{FF2B5EF4-FFF2-40B4-BE49-F238E27FC236}">
                <a16:creationId xmlns:a16="http://schemas.microsoft.com/office/drawing/2014/main" id="{3589EE1C-24D4-400E-A02A-4DA7B6A221CA}"/>
              </a:ext>
            </a:extLst>
          </p:cNvPr>
          <p:cNvSpPr>
            <a:spLocks noGrp="1"/>
          </p:cNvSpPr>
          <p:nvPr/>
        </p:nvSpPr>
        <p:spPr>
          <a:xfrm>
            <a:off x="457200" y="262890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ad-stage-num-text-1">
            <a:extLst>
              <a:ext uri="{FF2B5EF4-FFF2-40B4-BE49-F238E27FC236}">
                <a16:creationId xmlns:a16="http://schemas.microsoft.com/office/drawing/2014/main" id="{30E2A02F-62F9-4F7A-AB62-C323D72D118A}"/>
              </a:ext>
            </a:extLst>
          </p:cNvPr>
          <p:cNvSpPr>
            <a:spLocks noGrp="1"/>
          </p:cNvSpPr>
          <p:nvPr/>
        </p:nvSpPr>
        <p:spPr>
          <a:xfrm>
            <a:off x="457200" y="27051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read-stage-title-1">
            <a:extLst>
              <a:ext uri="{FF2B5EF4-FFF2-40B4-BE49-F238E27FC236}">
                <a16:creationId xmlns:a16="http://schemas.microsoft.com/office/drawing/2014/main" id="{9B87D16F-42DC-49A3-9310-8EAA90DCEB90}"/>
              </a:ext>
            </a:extLst>
          </p:cNvPr>
          <p:cNvSpPr>
            <a:spLocks noGrp="1"/>
          </p:cNvSpPr>
          <p:nvPr/>
        </p:nvSpPr>
        <p:spPr>
          <a:xfrm>
            <a:off x="1162050" y="26670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Lifecycle</a:t>
            </a:r>
          </a:p>
        </p:txBody>
      </p:sp>
      <p:sp>
        <p:nvSpPr>
          <p:cNvPr id="12" name="read-stage-body-1">
            <a:extLst>
              <a:ext uri="{FF2B5EF4-FFF2-40B4-BE49-F238E27FC236}">
                <a16:creationId xmlns:a16="http://schemas.microsoft.com/office/drawing/2014/main" id="{01CEF5DD-AE4A-4C13-851C-B5382B3E9C11}"/>
              </a:ext>
            </a:extLst>
          </p:cNvPr>
          <p:cNvSpPr>
            <a:spLocks noGrp="1"/>
          </p:cNvSpPr>
          <p:nvPr/>
        </p:nvSpPr>
        <p:spPr>
          <a:xfrm>
            <a:off x="3619500" y="2667000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active • not expired • allowed kind</a:t>
            </a:r>
          </a:p>
        </p:txBody>
      </p:sp>
      <p:sp>
        <p:nvSpPr>
          <p:cNvPr id="13" name="read-stage-num-2">
            <a:extLst>
              <a:ext uri="{FF2B5EF4-FFF2-40B4-BE49-F238E27FC236}">
                <a16:creationId xmlns:a16="http://schemas.microsoft.com/office/drawing/2014/main" id="{21B0E120-796F-4F89-9339-043D54CE8071}"/>
              </a:ext>
            </a:extLst>
          </p:cNvPr>
          <p:cNvSpPr>
            <a:spLocks noGrp="1"/>
          </p:cNvSpPr>
          <p:nvPr/>
        </p:nvSpPr>
        <p:spPr>
          <a:xfrm>
            <a:off x="457200" y="335280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ad-stage-num-text-2">
            <a:extLst>
              <a:ext uri="{FF2B5EF4-FFF2-40B4-BE49-F238E27FC236}">
                <a16:creationId xmlns:a16="http://schemas.microsoft.com/office/drawing/2014/main" id="{E490F0A9-D5C4-4E01-A449-6D73AC50A014}"/>
              </a:ext>
            </a:extLst>
          </p:cNvPr>
          <p:cNvSpPr>
            <a:spLocks noGrp="1"/>
          </p:cNvSpPr>
          <p:nvPr/>
        </p:nvSpPr>
        <p:spPr>
          <a:xfrm>
            <a:off x="457200" y="34290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read-stage-title-2">
            <a:extLst>
              <a:ext uri="{FF2B5EF4-FFF2-40B4-BE49-F238E27FC236}">
                <a16:creationId xmlns:a16="http://schemas.microsoft.com/office/drawing/2014/main" id="{846D8599-9164-4DBC-AFC9-532E27F1D5FD}"/>
              </a:ext>
            </a:extLst>
          </p:cNvPr>
          <p:cNvSpPr>
            <a:spLocks noGrp="1"/>
          </p:cNvSpPr>
          <p:nvPr/>
        </p:nvSpPr>
        <p:spPr>
          <a:xfrm>
            <a:off x="1162050" y="33909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Retrieve</a:t>
            </a:r>
          </a:p>
        </p:txBody>
      </p:sp>
      <p:sp>
        <p:nvSpPr>
          <p:cNvPr id="16" name="read-stage-body-2">
            <a:extLst>
              <a:ext uri="{FF2B5EF4-FFF2-40B4-BE49-F238E27FC236}">
                <a16:creationId xmlns:a16="http://schemas.microsoft.com/office/drawing/2014/main" id="{0A88D156-CF2C-4ABF-8AA4-335F9BE3B9EC}"/>
              </a:ext>
            </a:extLst>
          </p:cNvPr>
          <p:cNvSpPr>
            <a:spLocks noGrp="1"/>
          </p:cNvSpPr>
          <p:nvPr/>
        </p:nvSpPr>
        <p:spPr>
          <a:xfrm>
            <a:off x="3619500" y="3390900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hybrid / vector / exact</a:t>
            </a:r>
          </a:p>
        </p:txBody>
      </p:sp>
      <p:sp>
        <p:nvSpPr>
          <p:cNvPr id="17" name="read-stage-num-3">
            <a:extLst>
              <a:ext uri="{FF2B5EF4-FFF2-40B4-BE49-F238E27FC236}">
                <a16:creationId xmlns:a16="http://schemas.microsoft.com/office/drawing/2014/main" id="{2CD5B775-C5CA-42B7-9477-E84A1D508DEC}"/>
              </a:ext>
            </a:extLst>
          </p:cNvPr>
          <p:cNvSpPr>
            <a:spLocks noGrp="1"/>
          </p:cNvSpPr>
          <p:nvPr/>
        </p:nvSpPr>
        <p:spPr>
          <a:xfrm>
            <a:off x="457200" y="407670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ad-stage-num-text-3">
            <a:extLst>
              <a:ext uri="{FF2B5EF4-FFF2-40B4-BE49-F238E27FC236}">
                <a16:creationId xmlns:a16="http://schemas.microsoft.com/office/drawing/2014/main" id="{88355EF3-21D2-4504-9EF6-08CBBC235D52}"/>
              </a:ext>
            </a:extLst>
          </p:cNvPr>
          <p:cNvSpPr>
            <a:spLocks noGrp="1"/>
          </p:cNvSpPr>
          <p:nvPr/>
        </p:nvSpPr>
        <p:spPr>
          <a:xfrm>
            <a:off x="457200" y="41529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9" name="read-stage-title-3">
            <a:extLst>
              <a:ext uri="{FF2B5EF4-FFF2-40B4-BE49-F238E27FC236}">
                <a16:creationId xmlns:a16="http://schemas.microsoft.com/office/drawing/2014/main" id="{2325D476-D9B0-4D0F-8BF9-473E73082F8D}"/>
              </a:ext>
            </a:extLst>
          </p:cNvPr>
          <p:cNvSpPr>
            <a:spLocks noGrp="1"/>
          </p:cNvSpPr>
          <p:nvPr/>
        </p:nvSpPr>
        <p:spPr>
          <a:xfrm>
            <a:off x="1162050" y="41148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Rerank</a:t>
            </a:r>
          </a:p>
        </p:txBody>
      </p:sp>
      <p:sp>
        <p:nvSpPr>
          <p:cNvPr id="20" name="read-stage-body-3">
            <a:extLst>
              <a:ext uri="{FF2B5EF4-FFF2-40B4-BE49-F238E27FC236}">
                <a16:creationId xmlns:a16="http://schemas.microsoft.com/office/drawing/2014/main" id="{76F3860A-9BBA-45C5-813A-9BD8F566B1DB}"/>
              </a:ext>
            </a:extLst>
          </p:cNvPr>
          <p:cNvSpPr>
            <a:spLocks noGrp="1"/>
          </p:cNvSpPr>
          <p:nvPr/>
        </p:nvSpPr>
        <p:spPr>
          <a:xfrm>
            <a:off x="3619500" y="4114800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relevance • recency • confidence</a:t>
            </a:r>
          </a:p>
        </p:txBody>
      </p:sp>
      <p:sp>
        <p:nvSpPr>
          <p:cNvPr id="21" name="read-stage-num-4">
            <a:extLst>
              <a:ext uri="{FF2B5EF4-FFF2-40B4-BE49-F238E27FC236}">
                <a16:creationId xmlns:a16="http://schemas.microsoft.com/office/drawing/2014/main" id="{7A4EC428-A053-41DA-84D3-53E1CCC2E7EB}"/>
              </a:ext>
            </a:extLst>
          </p:cNvPr>
          <p:cNvSpPr>
            <a:spLocks noGrp="1"/>
          </p:cNvSpPr>
          <p:nvPr/>
        </p:nvSpPr>
        <p:spPr>
          <a:xfrm>
            <a:off x="457200" y="480060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ad-stage-num-text-4">
            <a:extLst>
              <a:ext uri="{FF2B5EF4-FFF2-40B4-BE49-F238E27FC236}">
                <a16:creationId xmlns:a16="http://schemas.microsoft.com/office/drawing/2014/main" id="{8CFFFE90-EAC9-44D2-9839-D987FBB7DFE6}"/>
              </a:ext>
            </a:extLst>
          </p:cNvPr>
          <p:cNvSpPr>
            <a:spLocks noGrp="1"/>
          </p:cNvSpPr>
          <p:nvPr/>
        </p:nvSpPr>
        <p:spPr>
          <a:xfrm>
            <a:off x="457200" y="48768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3" name="read-stage-title-4">
            <a:extLst>
              <a:ext uri="{FF2B5EF4-FFF2-40B4-BE49-F238E27FC236}">
                <a16:creationId xmlns:a16="http://schemas.microsoft.com/office/drawing/2014/main" id="{F02AF81E-04ED-470C-BCDF-C8A91BD8C093}"/>
              </a:ext>
            </a:extLst>
          </p:cNvPr>
          <p:cNvSpPr>
            <a:spLocks noGrp="1"/>
          </p:cNvSpPr>
          <p:nvPr/>
        </p:nvSpPr>
        <p:spPr>
          <a:xfrm>
            <a:off x="1162050" y="48387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Budget</a:t>
            </a:r>
          </a:p>
        </p:txBody>
      </p:sp>
      <p:sp>
        <p:nvSpPr>
          <p:cNvPr id="24" name="read-stage-body-4">
            <a:extLst>
              <a:ext uri="{FF2B5EF4-FFF2-40B4-BE49-F238E27FC236}">
                <a16:creationId xmlns:a16="http://schemas.microsoft.com/office/drawing/2014/main" id="{C70DEE40-A346-4FD9-A815-B4CC40DA46E6}"/>
              </a:ext>
            </a:extLst>
          </p:cNvPr>
          <p:cNvSpPr>
            <a:spLocks noGrp="1"/>
          </p:cNvSpPr>
          <p:nvPr/>
        </p:nvSpPr>
        <p:spPr>
          <a:xfrm>
            <a:off x="3619500" y="4838700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top-k • tokens • audit</a:t>
            </a:r>
          </a:p>
        </p:txBody>
      </p:sp>
      <p:sp>
        <p:nvSpPr>
          <p:cNvPr id="25" name="read-warning">
            <a:extLst>
              <a:ext uri="{FF2B5EF4-FFF2-40B4-BE49-F238E27FC236}">
                <a16:creationId xmlns:a16="http://schemas.microsoft.com/office/drawing/2014/main" id="{EF6A2332-EA47-4263-9F23-4E54DE596827}"/>
              </a:ext>
            </a:extLst>
          </p:cNvPr>
          <p:cNvSpPr>
            <a:spLocks noGrp="1"/>
          </p:cNvSpPr>
          <p:nvPr/>
        </p:nvSpPr>
        <p:spPr>
          <a:xfrm>
            <a:off x="8229600" y="2000250"/>
            <a:ext cx="3352800" cy="1200150"/>
          </a:xfrm>
          <a:prstGeom prst="rect">
            <a:avLst/>
          </a:prstGeom>
          <a:solidFill>
            <a:srgbClr val="D0ED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ad-warning-text">
            <a:extLst>
              <a:ext uri="{FF2B5EF4-FFF2-40B4-BE49-F238E27FC236}">
                <a16:creationId xmlns:a16="http://schemas.microsoft.com/office/drawing/2014/main" id="{A8044114-9664-4867-BDA9-8FC17B605921}"/>
              </a:ext>
            </a:extLst>
          </p:cNvPr>
          <p:cNvSpPr>
            <a:spLocks noGrp="1"/>
          </p:cNvSpPr>
          <p:nvPr/>
        </p:nvSpPr>
        <p:spPr>
          <a:xfrm>
            <a:off x="8515350" y="2305050"/>
            <a:ext cx="28003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384"/>
          </a:bodyPr>
          <a:lstStyle/>
          <a:p>
            <a:pPr algn="l">
              <a:def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If a forbidden vector reaches ranking, the data boundary already failed.</a:t>
            </a:r>
          </a:p>
        </p:txBody>
      </p:sp>
    </p:spTree>
    <p:extLst>
      <p:ext uri="{BB962C8B-B14F-4D97-AF65-F5344CB8AC3E}">
        <p14:creationId xmlns:p14="http://schemas.microsoft.com/office/powerpoint/2010/main" val="477514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yebrow-18">
            <a:extLst>
              <a:ext uri="{FF2B5EF4-FFF2-40B4-BE49-F238E27FC236}">
                <a16:creationId xmlns:a16="http://schemas.microsoft.com/office/drawing/2014/main" id="{DA8B5CD0-0BE6-4D77-97DE-0C869D625211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GOVERNED PERSISTENT MEMORY</a:t>
            </a:r>
          </a:p>
        </p:txBody>
      </p:sp>
      <p:sp>
        <p:nvSpPr>
          <p:cNvPr id="2" name="title-18">
            <a:extLst>
              <a:ext uri="{FF2B5EF4-FFF2-40B4-BE49-F238E27FC236}">
                <a16:creationId xmlns:a16="http://schemas.microsoft.com/office/drawing/2014/main" id="{C33CCED2-1E74-4E66-A2DC-BEDA44E3857A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110966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Context is a budget, not a memory dump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391C04A6-FAA0-480D-9B6C-8AF404E6B634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11252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18">
            <a:extLst>
              <a:ext uri="{FF2B5EF4-FFF2-40B4-BE49-F238E27FC236}">
                <a16:creationId xmlns:a16="http://schemas.microsoft.com/office/drawing/2014/main" id="{CBC5513C-D00A-43F1-A80E-D22D0D3F0E1D}"/>
              </a:ext>
            </a:extLst>
          </p:cNvPr>
          <p:cNvSpPr>
            <a:spLocks noGrp="1"/>
          </p:cNvSpPr>
          <p:nvPr/>
        </p:nvSpPr>
        <p:spPr>
          <a:xfrm>
            <a:off x="11182350" y="64103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5" name="budget-total">
            <a:extLst>
              <a:ext uri="{FF2B5EF4-FFF2-40B4-BE49-F238E27FC236}">
                <a16:creationId xmlns:a16="http://schemas.microsoft.com/office/drawing/2014/main" id="{E4F29292-1D74-41EA-BF21-1933C976D8AA}"/>
              </a:ext>
            </a:extLst>
          </p:cNvPr>
          <p:cNvSpPr>
            <a:spLocks noGrp="1"/>
          </p:cNvSpPr>
          <p:nvPr/>
        </p:nvSpPr>
        <p:spPr>
          <a:xfrm>
            <a:off x="457200" y="1905000"/>
            <a:ext cx="342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240 tokens</a:t>
            </a:r>
          </a:p>
        </p:txBody>
      </p:sp>
      <p:sp>
        <p:nvSpPr>
          <p:cNvPr id="6" name="budget-label">
            <a:extLst>
              <a:ext uri="{FF2B5EF4-FFF2-40B4-BE49-F238E27FC236}">
                <a16:creationId xmlns:a16="http://schemas.microsoft.com/office/drawing/2014/main" id="{C30A73A9-FEDA-42CE-84E8-7129ED21344D}"/>
              </a:ext>
            </a:extLst>
          </p:cNvPr>
          <p:cNvSpPr>
            <a:spLocks noGrp="1"/>
          </p:cNvSpPr>
          <p:nvPr/>
        </p:nvSpPr>
        <p:spPr>
          <a:xfrm>
            <a:off x="457200" y="25336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example context budget</a:t>
            </a:r>
          </a:p>
        </p:txBody>
      </p:sp>
      <p:sp>
        <p:nvSpPr>
          <p:cNvPr id="7" name="budget-segment-0">
            <a:extLst>
              <a:ext uri="{FF2B5EF4-FFF2-40B4-BE49-F238E27FC236}">
                <a16:creationId xmlns:a16="http://schemas.microsoft.com/office/drawing/2014/main" id="{B3FD426C-B84B-487C-9087-77E737212045}"/>
              </a:ext>
            </a:extLst>
          </p:cNvPr>
          <p:cNvSpPr>
            <a:spLocks noGrp="1"/>
          </p:cNvSpPr>
          <p:nvPr/>
        </p:nvSpPr>
        <p:spPr>
          <a:xfrm>
            <a:off x="457200" y="3314700"/>
            <a:ext cx="2552700" cy="876300"/>
          </a:xfrm>
          <a:prstGeom prst="rect">
            <a:avLst/>
          </a:prstGeom>
          <a:solidFill>
            <a:srgbClr val="8FD3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budget-segment-text-0">
            <a:extLst>
              <a:ext uri="{FF2B5EF4-FFF2-40B4-BE49-F238E27FC236}">
                <a16:creationId xmlns:a16="http://schemas.microsoft.com/office/drawing/2014/main" id="{5246B15A-EB31-4868-9F56-56585778B097}"/>
              </a:ext>
            </a:extLst>
          </p:cNvPr>
          <p:cNvSpPr>
            <a:spLocks noGrp="1"/>
          </p:cNvSpPr>
          <p:nvPr/>
        </p:nvSpPr>
        <p:spPr>
          <a:xfrm>
            <a:off x="609600" y="3609975"/>
            <a:ext cx="2247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summary 25%</a:t>
            </a:r>
          </a:p>
        </p:txBody>
      </p:sp>
      <p:sp>
        <p:nvSpPr>
          <p:cNvPr id="9" name="budget-segment-1">
            <a:extLst>
              <a:ext uri="{FF2B5EF4-FFF2-40B4-BE49-F238E27FC236}">
                <a16:creationId xmlns:a16="http://schemas.microsoft.com/office/drawing/2014/main" id="{9107DA4C-AFD0-4448-A824-049F5BFFAAD6}"/>
              </a:ext>
            </a:extLst>
          </p:cNvPr>
          <p:cNvSpPr>
            <a:spLocks noGrp="1"/>
          </p:cNvSpPr>
          <p:nvPr/>
        </p:nvSpPr>
        <p:spPr>
          <a:xfrm>
            <a:off x="3009900" y="3314700"/>
            <a:ext cx="4095750" cy="8763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budget-segment-text-1">
            <a:extLst>
              <a:ext uri="{FF2B5EF4-FFF2-40B4-BE49-F238E27FC236}">
                <a16:creationId xmlns:a16="http://schemas.microsoft.com/office/drawing/2014/main" id="{A14D25B5-14B5-4C2C-A675-CACF8DAF6BCF}"/>
              </a:ext>
            </a:extLst>
          </p:cNvPr>
          <p:cNvSpPr>
            <a:spLocks noGrp="1"/>
          </p:cNvSpPr>
          <p:nvPr/>
        </p:nvSpPr>
        <p:spPr>
          <a:xfrm>
            <a:off x="3162300" y="3609975"/>
            <a:ext cx="3790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recent turns 40%</a:t>
            </a:r>
          </a:p>
        </p:txBody>
      </p:sp>
      <p:sp>
        <p:nvSpPr>
          <p:cNvPr id="11" name="budget-segment-2">
            <a:extLst>
              <a:ext uri="{FF2B5EF4-FFF2-40B4-BE49-F238E27FC236}">
                <a16:creationId xmlns:a16="http://schemas.microsoft.com/office/drawing/2014/main" id="{0A3BCA3D-3E46-4604-9A19-6527D3524094}"/>
              </a:ext>
            </a:extLst>
          </p:cNvPr>
          <p:cNvSpPr>
            <a:spLocks noGrp="1"/>
          </p:cNvSpPr>
          <p:nvPr/>
        </p:nvSpPr>
        <p:spPr>
          <a:xfrm>
            <a:off x="7105650" y="3314700"/>
            <a:ext cx="3600450" cy="876300"/>
          </a:xfrm>
          <a:prstGeom prst="rect">
            <a:avLst/>
          </a:prstGeom>
          <a:solidFill>
            <a:srgbClr val="1A5C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udget-segment-text-2">
            <a:extLst>
              <a:ext uri="{FF2B5EF4-FFF2-40B4-BE49-F238E27FC236}">
                <a16:creationId xmlns:a16="http://schemas.microsoft.com/office/drawing/2014/main" id="{DBC092BA-3D15-485D-BC8A-BAFA41C7F21B}"/>
              </a:ext>
            </a:extLst>
          </p:cNvPr>
          <p:cNvSpPr>
            <a:spLocks noGrp="1"/>
          </p:cNvSpPr>
          <p:nvPr/>
        </p:nvSpPr>
        <p:spPr>
          <a:xfrm>
            <a:off x="7258050" y="3609975"/>
            <a:ext cx="3295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long-term recall 35%</a:t>
            </a:r>
          </a:p>
        </p:txBody>
      </p:sp>
      <p:sp>
        <p:nvSpPr>
          <p:cNvPr id="13" name="budget-controls">
            <a:extLst>
              <a:ext uri="{FF2B5EF4-FFF2-40B4-BE49-F238E27FC236}">
                <a16:creationId xmlns:a16="http://schemas.microsoft.com/office/drawing/2014/main" id="{F8EF4F2E-ED23-4E18-98B3-3E9C511A4763}"/>
              </a:ext>
            </a:extLst>
          </p:cNvPr>
          <p:cNvSpPr>
            <a:spLocks noGrp="1"/>
          </p:cNvSpPr>
          <p:nvPr/>
        </p:nvSpPr>
        <p:spPr>
          <a:xfrm>
            <a:off x="457200" y="4762500"/>
            <a:ext cx="990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Rerank → compress → drop low-value recall → preserve current corrections</a:t>
            </a:r>
          </a:p>
        </p:txBody>
      </p:sp>
      <p:sp>
        <p:nvSpPr>
          <p:cNvPr id="14" name="budget-metric">
            <a:extLst>
              <a:ext uri="{FF2B5EF4-FFF2-40B4-BE49-F238E27FC236}">
                <a16:creationId xmlns:a16="http://schemas.microsoft.com/office/drawing/2014/main" id="{68DA0FD8-EA83-47E2-AE04-3893654F6849}"/>
              </a:ext>
            </a:extLst>
          </p:cNvPr>
          <p:cNvSpPr>
            <a:spLocks noGrp="1"/>
          </p:cNvSpPr>
          <p:nvPr/>
        </p:nvSpPr>
        <p:spPr>
          <a:xfrm>
            <a:off x="457200" y="54292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Measure usefulness per injected token—not recall volume.</a:t>
            </a:r>
          </a:p>
        </p:txBody>
      </p:sp>
    </p:spTree>
    <p:extLst>
      <p:ext uri="{BB962C8B-B14F-4D97-AF65-F5344CB8AC3E}">
        <p14:creationId xmlns:p14="http://schemas.microsoft.com/office/powerpoint/2010/main" val="3949829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yebrow-19">
            <a:extLst>
              <a:ext uri="{FF2B5EF4-FFF2-40B4-BE49-F238E27FC236}">
                <a16:creationId xmlns:a16="http://schemas.microsoft.com/office/drawing/2014/main" id="{3655EF53-B8B2-4816-932D-90DF8BDF926C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GOVERNED PERSISTENT MEMORY</a:t>
            </a:r>
          </a:p>
        </p:txBody>
      </p:sp>
      <p:sp>
        <p:nvSpPr>
          <p:cNvPr id="2" name="title-19">
            <a:extLst>
              <a:ext uri="{FF2B5EF4-FFF2-40B4-BE49-F238E27FC236}">
                <a16:creationId xmlns:a16="http://schemas.microsoft.com/office/drawing/2014/main" id="{E5731616-6573-45A2-9DCB-0D7811CDE9D2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110966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Use Redis and PostgreSQL for different strengths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DF87B9E5-AFBA-434D-9162-3C821C172077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11252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19">
            <a:extLst>
              <a:ext uri="{FF2B5EF4-FFF2-40B4-BE49-F238E27FC236}">
                <a16:creationId xmlns:a16="http://schemas.microsoft.com/office/drawing/2014/main" id="{7C3C0483-56D4-4CEB-8E5D-B31B797E9ADA}"/>
              </a:ext>
            </a:extLst>
          </p:cNvPr>
          <p:cNvSpPr>
            <a:spLocks noGrp="1"/>
          </p:cNvSpPr>
          <p:nvPr/>
        </p:nvSpPr>
        <p:spPr>
          <a:xfrm>
            <a:off x="11182350" y="64103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graphicFrame>
        <p:nvGraphicFramePr>
          <p:cNvPr id="11" name="Table 10"/>
          <p:cNvGraphicFramePr/>
          <p:nvPr/>
        </p:nvGraphicFramePr>
        <p:xfrm>
          <a:off x="457200" y="1847850"/>
          <a:ext cx="11125200" cy="3790950"/>
        </p:xfrm>
        <a:graphic>
          <a:graphicData uri="http://schemas.openxmlformats.org/drawingml/2006/table">
            <a:tbl>
              <a:tblPr firstRow="1" bandRow="1"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1564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Concern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Redis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PostgreSQL + pgvector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56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A0A0A"/>
                          </a:solidFill>
                        </a:rPr>
                        <a:t>Thread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A0A0A"/>
                          </a:solidFill>
                        </a:rPr>
                        <a:t>low-latency shared 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A0A0A"/>
                          </a:solidFill>
                        </a:rPr>
                        <a:t>durable transactional checkpoint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56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A0A0A"/>
                          </a:solidFill>
                        </a:rPr>
                        <a:t>Ordered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A0A0A"/>
                          </a:solidFill>
                        </a:rPr>
                        <a:t>Streams + bounded 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A0A0A"/>
                          </a:solidFill>
                        </a:rPr>
                        <a:t>append-only event 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56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A0A0A"/>
                          </a:solidFill>
                        </a:rPr>
                        <a:t>Long-term metadata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A0A0A"/>
                          </a:solidFill>
                        </a:rPr>
                        <a:t>JSON +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A0A0A"/>
                          </a:solidFill>
                        </a:rPr>
                        <a:t>typed relational lifecycle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56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A0A0A"/>
                          </a:solidFill>
                        </a:rPr>
                        <a:t>Semantic 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A0A0A"/>
                          </a:solidFill>
                        </a:rPr>
                        <a:t>vector + tag filters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A0A0A"/>
                          </a:solidFill>
                        </a:rPr>
                        <a:t>vector + SQL filters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56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A0A0A"/>
                          </a:solidFill>
                        </a:rPr>
                        <a:t>TTL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A0A0A"/>
                          </a:solidFill>
                        </a:rPr>
                        <a:t>native key expiry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A0A0A"/>
                          </a:solidFill>
                        </a:rPr>
                        <a:t>expiry column + cleanup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156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A0A0A"/>
                          </a:solidFill>
                        </a:rPr>
                        <a:t>Best 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A0A0A"/>
                          </a:solidFill>
                        </a:rPr>
                        <a:t>hot path / simple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A0A0A"/>
                          </a:solidFill>
                        </a:rPr>
                        <a:t>truth, joins, lineage, audit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torage-decision">
            <a:extLst>
              <a:ext uri="{FF2B5EF4-FFF2-40B4-BE49-F238E27FC236}">
                <a16:creationId xmlns:a16="http://schemas.microsoft.com/office/drawing/2014/main" id="{08A07E10-F94E-432F-B433-4B0C0264BF4D}"/>
              </a:ext>
            </a:extLst>
          </p:cNvPr>
          <p:cNvSpPr>
            <a:spLocks noGrp="1"/>
          </p:cNvSpPr>
          <p:nvPr/>
        </p:nvSpPr>
        <p:spPr>
          <a:xfrm>
            <a:off x="457200" y="5867400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Choose the smallest stack that preserves your invariants. One-store architectures are valid decisions—not defaults.</a:t>
            </a:r>
          </a:p>
        </p:txBody>
      </p:sp>
    </p:spTree>
    <p:extLst>
      <p:ext uri="{BB962C8B-B14F-4D97-AF65-F5344CB8AC3E}">
        <p14:creationId xmlns:p14="http://schemas.microsoft.com/office/powerpoint/2010/main" val="12555565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yebrow-20">
            <a:extLst>
              <a:ext uri="{FF2B5EF4-FFF2-40B4-BE49-F238E27FC236}">
                <a16:creationId xmlns:a16="http://schemas.microsoft.com/office/drawing/2014/main" id="{5D366AC9-2890-48FE-87CC-0008E25A8496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GOVERNED PERSISTENT MEMORY</a:t>
            </a:r>
          </a:p>
        </p:txBody>
      </p:sp>
      <p:sp>
        <p:nvSpPr>
          <p:cNvPr id="2" name="title-20">
            <a:extLst>
              <a:ext uri="{FF2B5EF4-FFF2-40B4-BE49-F238E27FC236}">
                <a16:creationId xmlns:a16="http://schemas.microsoft.com/office/drawing/2014/main" id="{7D4B2210-0E08-4759-B3B5-22E2D418B4B9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110966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Failure drill: name the control before the fix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69C33B9E-BB81-4EB2-9042-8356C2087BAA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11252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20">
            <a:extLst>
              <a:ext uri="{FF2B5EF4-FFF2-40B4-BE49-F238E27FC236}">
                <a16:creationId xmlns:a16="http://schemas.microsoft.com/office/drawing/2014/main" id="{D1913F5E-D642-4BEE-86C2-9AA4BB6F681D}"/>
              </a:ext>
            </a:extLst>
          </p:cNvPr>
          <p:cNvSpPr>
            <a:spLocks noGrp="1"/>
          </p:cNvSpPr>
          <p:nvPr/>
        </p:nvSpPr>
        <p:spPr>
          <a:xfrm>
            <a:off x="11182350" y="64103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5" name="failure-name-0">
            <a:extLst>
              <a:ext uri="{FF2B5EF4-FFF2-40B4-BE49-F238E27FC236}">
                <a16:creationId xmlns:a16="http://schemas.microsoft.com/office/drawing/2014/main" id="{C50EEE63-9C96-4836-A0C5-51D23E5F5F8D}"/>
              </a:ext>
            </a:extLst>
          </p:cNvPr>
          <p:cNvSpPr>
            <a:spLocks noGrp="1"/>
          </p:cNvSpPr>
          <p:nvPr/>
        </p:nvSpPr>
        <p:spPr>
          <a:xfrm>
            <a:off x="457200" y="19050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Tenant leak</a:t>
            </a:r>
          </a:p>
        </p:txBody>
      </p:sp>
      <p:sp>
        <p:nvSpPr>
          <p:cNvPr id="6" name="failure-control-0">
            <a:extLst>
              <a:ext uri="{FF2B5EF4-FFF2-40B4-BE49-F238E27FC236}">
                <a16:creationId xmlns:a16="http://schemas.microsoft.com/office/drawing/2014/main" id="{C00E28B2-483A-4F92-A4AA-F06B85297121}"/>
              </a:ext>
            </a:extLst>
          </p:cNvPr>
          <p:cNvSpPr>
            <a:spLocks noGrp="1"/>
          </p:cNvSpPr>
          <p:nvPr/>
        </p:nvSpPr>
        <p:spPr>
          <a:xfrm>
            <a:off x="3124200" y="19050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scope inside query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E6F7DB34-187C-4B38-A119-07A32B63586F}"/>
              </a:ext>
            </a:extLst>
          </p:cNvPr>
          <p:cNvSpPr>
            <a:spLocks noGrp="1"/>
          </p:cNvSpPr>
          <p:nvPr/>
        </p:nvSpPr>
        <p:spPr>
          <a:xfrm>
            <a:off x="457200" y="2409825"/>
            <a:ext cx="51054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failure-name-1">
            <a:extLst>
              <a:ext uri="{FF2B5EF4-FFF2-40B4-BE49-F238E27FC236}">
                <a16:creationId xmlns:a16="http://schemas.microsoft.com/office/drawing/2014/main" id="{9B4534FD-5B8E-455F-BC83-3F7F0C1C8FF4}"/>
              </a:ext>
            </a:extLst>
          </p:cNvPr>
          <p:cNvSpPr>
            <a:spLocks noGrp="1"/>
          </p:cNvSpPr>
          <p:nvPr/>
        </p:nvSpPr>
        <p:spPr>
          <a:xfrm>
            <a:off x="6019800" y="19050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Prompt-driven write</a:t>
            </a:r>
          </a:p>
        </p:txBody>
      </p:sp>
      <p:sp>
        <p:nvSpPr>
          <p:cNvPr id="9" name="failure-control-1">
            <a:extLst>
              <a:ext uri="{FF2B5EF4-FFF2-40B4-BE49-F238E27FC236}">
                <a16:creationId xmlns:a16="http://schemas.microsoft.com/office/drawing/2014/main" id="{9B02D064-E745-4290-A57A-489AD7F180A2}"/>
              </a:ext>
            </a:extLst>
          </p:cNvPr>
          <p:cNvSpPr>
            <a:spLocks noGrp="1"/>
          </p:cNvSpPr>
          <p:nvPr/>
        </p:nvSpPr>
        <p:spPr>
          <a:xfrm>
            <a:off x="8686800" y="19050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verified provenance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F8107B7D-5624-4431-9F60-4AFFB40B3CCE}"/>
              </a:ext>
            </a:extLst>
          </p:cNvPr>
          <p:cNvSpPr>
            <a:spLocks noGrp="1"/>
          </p:cNvSpPr>
          <p:nvPr/>
        </p:nvSpPr>
        <p:spPr>
          <a:xfrm>
            <a:off x="6019800" y="2409825"/>
            <a:ext cx="51054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failure-name-2">
            <a:extLst>
              <a:ext uri="{FF2B5EF4-FFF2-40B4-BE49-F238E27FC236}">
                <a16:creationId xmlns:a16="http://schemas.microsoft.com/office/drawing/2014/main" id="{81E69D6B-8EE0-482C-896E-FF240DD7590A}"/>
              </a:ext>
            </a:extLst>
          </p:cNvPr>
          <p:cNvSpPr>
            <a:spLocks noGrp="1"/>
          </p:cNvSpPr>
          <p:nvPr/>
        </p:nvSpPr>
        <p:spPr>
          <a:xfrm>
            <a:off x="457200" y="31051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Stale conflict</a:t>
            </a:r>
          </a:p>
        </p:txBody>
      </p:sp>
      <p:sp>
        <p:nvSpPr>
          <p:cNvPr id="12" name="failure-control-2">
            <a:extLst>
              <a:ext uri="{FF2B5EF4-FFF2-40B4-BE49-F238E27FC236}">
                <a16:creationId xmlns:a16="http://schemas.microsoft.com/office/drawing/2014/main" id="{47B883DA-C274-4D24-9A23-C2567C75E6C9}"/>
              </a:ext>
            </a:extLst>
          </p:cNvPr>
          <p:cNvSpPr>
            <a:spLocks noGrp="1"/>
          </p:cNvSpPr>
          <p:nvPr/>
        </p:nvSpPr>
        <p:spPr>
          <a:xfrm>
            <a:off x="3124200" y="31051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observed-time versioning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88C1D129-572C-4460-8D18-A4A185859B73}"/>
              </a:ext>
            </a:extLst>
          </p:cNvPr>
          <p:cNvSpPr>
            <a:spLocks noGrp="1"/>
          </p:cNvSpPr>
          <p:nvPr/>
        </p:nvSpPr>
        <p:spPr>
          <a:xfrm>
            <a:off x="457200" y="3609975"/>
            <a:ext cx="51054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failure-name-3">
            <a:extLst>
              <a:ext uri="{FF2B5EF4-FFF2-40B4-BE49-F238E27FC236}">
                <a16:creationId xmlns:a16="http://schemas.microsoft.com/office/drawing/2014/main" id="{7B2BF1CD-FDD6-4271-A91F-30CF9AF36CA7}"/>
              </a:ext>
            </a:extLst>
          </p:cNvPr>
          <p:cNvSpPr>
            <a:spLocks noGrp="1"/>
          </p:cNvSpPr>
          <p:nvPr/>
        </p:nvSpPr>
        <p:spPr>
          <a:xfrm>
            <a:off x="6019800" y="31051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Expired vector</a:t>
            </a:r>
          </a:p>
        </p:txBody>
      </p:sp>
      <p:sp>
        <p:nvSpPr>
          <p:cNvPr id="15" name="failure-control-3">
            <a:extLst>
              <a:ext uri="{FF2B5EF4-FFF2-40B4-BE49-F238E27FC236}">
                <a16:creationId xmlns:a16="http://schemas.microsoft.com/office/drawing/2014/main" id="{707B32CA-FBA9-4DB1-995D-8DD14793DF78}"/>
              </a:ext>
            </a:extLst>
          </p:cNvPr>
          <p:cNvSpPr>
            <a:spLocks noGrp="1"/>
          </p:cNvSpPr>
          <p:nvPr/>
        </p:nvSpPr>
        <p:spPr>
          <a:xfrm>
            <a:off x="8686800" y="31051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lifecycle filter + purge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2B4E209D-22AE-4BDB-AEB5-CD8A9BE7C3B2}"/>
              </a:ext>
            </a:extLst>
          </p:cNvPr>
          <p:cNvSpPr>
            <a:spLocks noGrp="1"/>
          </p:cNvSpPr>
          <p:nvPr/>
        </p:nvSpPr>
        <p:spPr>
          <a:xfrm>
            <a:off x="6019800" y="3609975"/>
            <a:ext cx="51054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failure-name-4">
            <a:extLst>
              <a:ext uri="{FF2B5EF4-FFF2-40B4-BE49-F238E27FC236}">
                <a16:creationId xmlns:a16="http://schemas.microsoft.com/office/drawing/2014/main" id="{02212885-CF2C-4D3D-8960-2963BC46B628}"/>
              </a:ext>
            </a:extLst>
          </p:cNvPr>
          <p:cNvSpPr>
            <a:spLocks noGrp="1"/>
          </p:cNvSpPr>
          <p:nvPr/>
        </p:nvSpPr>
        <p:spPr>
          <a:xfrm>
            <a:off x="457200" y="43053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Context overflow</a:t>
            </a:r>
          </a:p>
        </p:txBody>
      </p:sp>
      <p:sp>
        <p:nvSpPr>
          <p:cNvPr id="18" name="failure-control-4">
            <a:extLst>
              <a:ext uri="{FF2B5EF4-FFF2-40B4-BE49-F238E27FC236}">
                <a16:creationId xmlns:a16="http://schemas.microsoft.com/office/drawing/2014/main" id="{C9D588F6-5575-43D6-9B91-1FA8FEAA9C57}"/>
              </a:ext>
            </a:extLst>
          </p:cNvPr>
          <p:cNvSpPr>
            <a:spLocks noGrp="1"/>
          </p:cNvSpPr>
          <p:nvPr/>
        </p:nvSpPr>
        <p:spPr>
          <a:xfrm>
            <a:off x="3124200" y="43053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global token budget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E1E00EE8-95B8-4AAA-A8EA-E262FFE17BF7}"/>
              </a:ext>
            </a:extLst>
          </p:cNvPr>
          <p:cNvSpPr>
            <a:spLocks noGrp="1"/>
          </p:cNvSpPr>
          <p:nvPr/>
        </p:nvSpPr>
        <p:spPr>
          <a:xfrm>
            <a:off x="457200" y="4810125"/>
            <a:ext cx="51054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failure-name-5">
            <a:extLst>
              <a:ext uri="{FF2B5EF4-FFF2-40B4-BE49-F238E27FC236}">
                <a16:creationId xmlns:a16="http://schemas.microsoft.com/office/drawing/2014/main" id="{A03ED636-8B56-43C8-A5BC-CA2CF4E86B4C}"/>
              </a:ext>
            </a:extLst>
          </p:cNvPr>
          <p:cNvSpPr>
            <a:spLocks noGrp="1"/>
          </p:cNvSpPr>
          <p:nvPr/>
        </p:nvSpPr>
        <p:spPr>
          <a:xfrm>
            <a:off x="6019800" y="43053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Summary drift</a:t>
            </a:r>
          </a:p>
        </p:txBody>
      </p:sp>
      <p:sp>
        <p:nvSpPr>
          <p:cNvPr id="21" name="failure-control-5">
            <a:extLst>
              <a:ext uri="{FF2B5EF4-FFF2-40B4-BE49-F238E27FC236}">
                <a16:creationId xmlns:a16="http://schemas.microsoft.com/office/drawing/2014/main" id="{6ED84977-AE0E-4B8E-ADA2-2CEC7517A14A}"/>
              </a:ext>
            </a:extLst>
          </p:cNvPr>
          <p:cNvSpPr>
            <a:spLocks noGrp="1"/>
          </p:cNvSpPr>
          <p:nvPr/>
        </p:nvSpPr>
        <p:spPr>
          <a:xfrm>
            <a:off x="8686800" y="43053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summary evaluation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FB3129E0-36DE-4016-AB16-54894CE747B6}"/>
              </a:ext>
            </a:extLst>
          </p:cNvPr>
          <p:cNvSpPr>
            <a:spLocks noGrp="1"/>
          </p:cNvSpPr>
          <p:nvPr/>
        </p:nvSpPr>
        <p:spPr>
          <a:xfrm>
            <a:off x="6019800" y="4810125"/>
            <a:ext cx="51054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failure-gate">
            <a:extLst>
              <a:ext uri="{FF2B5EF4-FFF2-40B4-BE49-F238E27FC236}">
                <a16:creationId xmlns:a16="http://schemas.microsoft.com/office/drawing/2014/main" id="{CC154B2F-5195-4F5E-A946-CD06DA1D9EAB}"/>
              </a:ext>
            </a:extLst>
          </p:cNvPr>
          <p:cNvSpPr>
            <a:spLocks noGrp="1"/>
          </p:cNvSpPr>
          <p:nvPr/>
        </p:nvSpPr>
        <p:spPr>
          <a:xfrm>
            <a:off x="457200" y="5600700"/>
            <a:ext cx="10648950" cy="514350"/>
          </a:xfrm>
          <a:prstGeom prst="rect">
            <a:avLst/>
          </a:prstGeom>
          <a:solidFill>
            <a:srgbClr val="0A0A0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failure-gate-text">
            <a:extLst>
              <a:ext uri="{FF2B5EF4-FFF2-40B4-BE49-F238E27FC236}">
                <a16:creationId xmlns:a16="http://schemas.microsoft.com/office/drawing/2014/main" id="{FAE5FDA4-87DB-46C8-BA84-A8028093DC70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10172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governance promise is incomplete until a test can fail it.</a:t>
            </a:r>
          </a:p>
        </p:txBody>
      </p:sp>
    </p:spTree>
    <p:extLst>
      <p:ext uri="{BB962C8B-B14F-4D97-AF65-F5344CB8AC3E}">
        <p14:creationId xmlns:p14="http://schemas.microsoft.com/office/powerpoint/2010/main" val="5585139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yebrow-21">
            <a:extLst>
              <a:ext uri="{FF2B5EF4-FFF2-40B4-BE49-F238E27FC236}">
                <a16:creationId xmlns:a16="http://schemas.microsoft.com/office/drawing/2014/main" id="{81A93E6E-0639-4DD8-B578-6A9405712CE4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GOVERNED PERSISTENT MEMORY</a:t>
            </a:r>
          </a:p>
        </p:txBody>
      </p:sp>
      <p:sp>
        <p:nvSpPr>
          <p:cNvPr id="2" name="title-21">
            <a:extLst>
              <a:ext uri="{FF2B5EF4-FFF2-40B4-BE49-F238E27FC236}">
                <a16:creationId xmlns:a16="http://schemas.microsoft.com/office/drawing/2014/main" id="{6CCD4EEC-C57B-4C73-8D18-39BBB476E903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110966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The gate proves behavior across the full lifecycle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BC5E1E80-3469-4BF9-8CA3-EBE82D189234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11252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21">
            <a:extLst>
              <a:ext uri="{FF2B5EF4-FFF2-40B4-BE49-F238E27FC236}">
                <a16:creationId xmlns:a16="http://schemas.microsoft.com/office/drawing/2014/main" id="{BAC6D28E-0045-467A-97F7-7F32E9006F1F}"/>
              </a:ext>
            </a:extLst>
          </p:cNvPr>
          <p:cNvSpPr>
            <a:spLocks noGrp="1"/>
          </p:cNvSpPr>
          <p:nvPr/>
        </p:nvSpPr>
        <p:spPr>
          <a:xfrm>
            <a:off x="11182350" y="64103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5" name="gate-number-0">
            <a:extLst>
              <a:ext uri="{FF2B5EF4-FFF2-40B4-BE49-F238E27FC236}">
                <a16:creationId xmlns:a16="http://schemas.microsoft.com/office/drawing/2014/main" id="{E9454D57-3140-4953-B301-A1A924E38FA7}"/>
              </a:ext>
            </a:extLst>
          </p:cNvPr>
          <p:cNvSpPr>
            <a:spLocks noGrp="1"/>
          </p:cNvSpPr>
          <p:nvPr/>
        </p:nvSpPr>
        <p:spPr>
          <a:xfrm>
            <a:off x="457200" y="2095500"/>
            <a:ext cx="2857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5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6" name="gate-label-0">
            <a:extLst>
              <a:ext uri="{FF2B5EF4-FFF2-40B4-BE49-F238E27FC236}">
                <a16:creationId xmlns:a16="http://schemas.microsoft.com/office/drawing/2014/main" id="{C5AD7339-F9C8-4A07-A39A-4CCA2C752616}"/>
              </a:ext>
            </a:extLst>
          </p:cNvPr>
          <p:cNvSpPr>
            <a:spLocks noGrp="1"/>
          </p:cNvSpPr>
          <p:nvPr/>
        </p:nvSpPr>
        <p:spPr>
          <a:xfrm>
            <a:off x="457200" y="304800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acceptance tests</a:t>
            </a:r>
          </a:p>
        </p:txBody>
      </p:sp>
      <p:sp>
        <p:nvSpPr>
          <p:cNvPr id="7" name="gate-number-1">
            <a:extLst>
              <a:ext uri="{FF2B5EF4-FFF2-40B4-BE49-F238E27FC236}">
                <a16:creationId xmlns:a16="http://schemas.microsoft.com/office/drawing/2014/main" id="{4674B2ED-1C48-4475-8230-3F6FEDD7DA12}"/>
              </a:ext>
            </a:extLst>
          </p:cNvPr>
          <p:cNvSpPr>
            <a:spLocks noGrp="1"/>
          </p:cNvSpPr>
          <p:nvPr/>
        </p:nvSpPr>
        <p:spPr>
          <a:xfrm>
            <a:off x="4095750" y="2095500"/>
            <a:ext cx="2857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5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8" name="gate-label-1">
            <a:extLst>
              <a:ext uri="{FF2B5EF4-FFF2-40B4-BE49-F238E27FC236}">
                <a16:creationId xmlns:a16="http://schemas.microsoft.com/office/drawing/2014/main" id="{4FA728D9-C362-4974-A68E-7967A94B1385}"/>
              </a:ext>
            </a:extLst>
          </p:cNvPr>
          <p:cNvSpPr>
            <a:spLocks noGrp="1"/>
          </p:cNvSpPr>
          <p:nvPr/>
        </p:nvSpPr>
        <p:spPr>
          <a:xfrm>
            <a:off x="4095750" y="304800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unsafe TODO boundaries</a:t>
            </a:r>
          </a:p>
        </p:txBody>
      </p:sp>
      <p:sp>
        <p:nvSpPr>
          <p:cNvPr id="9" name="gate-number-2">
            <a:extLst>
              <a:ext uri="{FF2B5EF4-FFF2-40B4-BE49-F238E27FC236}">
                <a16:creationId xmlns:a16="http://schemas.microsoft.com/office/drawing/2014/main" id="{D74B2175-CC41-4E14-95B3-5EECCC5572C8}"/>
              </a:ext>
            </a:extLst>
          </p:cNvPr>
          <p:cNvSpPr>
            <a:spLocks noGrp="1"/>
          </p:cNvSpPr>
          <p:nvPr/>
        </p:nvSpPr>
        <p:spPr>
          <a:xfrm>
            <a:off x="7734300" y="2095500"/>
            <a:ext cx="2857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5250" b="1">
                <a:solidFill>
                  <a:srgbClr val="137A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137A4B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0" name="gate-label-2">
            <a:extLst>
              <a:ext uri="{FF2B5EF4-FFF2-40B4-BE49-F238E27FC236}">
                <a16:creationId xmlns:a16="http://schemas.microsoft.com/office/drawing/2014/main" id="{D05C3E4D-F78C-4353-AC59-869B7BA2D4BC}"/>
              </a:ext>
            </a:extLst>
          </p:cNvPr>
          <p:cNvSpPr>
            <a:spLocks noGrp="1"/>
          </p:cNvSpPr>
          <p:nvPr/>
        </p:nvSpPr>
        <p:spPr>
          <a:xfrm>
            <a:off x="7734300" y="304800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recall after deletion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39239C6-D03B-41FD-BFD2-FA6A1F330CA7}"/>
              </a:ext>
            </a:extLst>
          </p:cNvPr>
          <p:cNvSpPr>
            <a:spLocks noGrp="1"/>
          </p:cNvSpPr>
          <p:nvPr/>
        </p:nvSpPr>
        <p:spPr>
          <a:xfrm>
            <a:off x="457200" y="3829050"/>
            <a:ext cx="111252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gate-list">
            <a:extLst>
              <a:ext uri="{FF2B5EF4-FFF2-40B4-BE49-F238E27FC236}">
                <a16:creationId xmlns:a16="http://schemas.microsoft.com/office/drawing/2014/main" id="{3DAF3068-7AAD-4734-A9D6-C4A386C41F10}"/>
              </a:ext>
            </a:extLst>
          </p:cNvPr>
          <p:cNvSpPr>
            <a:spLocks noGrp="1"/>
          </p:cNvSpPr>
          <p:nvPr/>
        </p:nvSpPr>
        <p:spPr>
          <a:xfrm>
            <a:off x="457200" y="4171950"/>
            <a:ext cx="10668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Restart • compaction • governed write • deduplication • conflict lineage • source-of-truth rules</a:t>
            </a:r>
          </a:p>
          <a:p>
            <a:pPr algn="l">
              <a:def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pre-ranking scope • expiry • context budget • deletion propagation • read/write audit</a:t>
            </a:r>
          </a:p>
        </p:txBody>
      </p:sp>
      <p:sp>
        <p:nvSpPr>
          <p:cNvPr id="13" name="gate-honesty">
            <a:extLst>
              <a:ext uri="{FF2B5EF4-FFF2-40B4-BE49-F238E27FC236}">
                <a16:creationId xmlns:a16="http://schemas.microsoft.com/office/drawing/2014/main" id="{D3C37D69-3116-4648-80DC-3D7E09AD2058}"/>
              </a:ext>
            </a:extLst>
          </p:cNvPr>
          <p:cNvSpPr>
            <a:spLocks noGrp="1"/>
          </p:cNvSpPr>
          <p:nvPr/>
        </p:nvSpPr>
        <p:spPr>
          <a:xfrm>
            <a:off x="457200" y="5638800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The deterministic gate proves wiring—not semantic quality, distributed safety, or legal compliance.</a:t>
            </a:r>
          </a:p>
        </p:txBody>
      </p:sp>
    </p:spTree>
    <p:extLst>
      <p:ext uri="{BB962C8B-B14F-4D97-AF65-F5344CB8AC3E}">
        <p14:creationId xmlns:p14="http://schemas.microsoft.com/office/powerpoint/2010/main" val="17298112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lose-eyebrow">
            <a:extLst>
              <a:ext uri="{FF2B5EF4-FFF2-40B4-BE49-F238E27FC236}">
                <a16:creationId xmlns:a16="http://schemas.microsoft.com/office/drawing/2014/main" id="{FEE09CB4-7343-4462-A57F-3B25F55530F3}"/>
              </a:ext>
            </a:extLst>
          </p:cNvPr>
          <p:cNvSpPr>
            <a:spLocks noGrp="1"/>
          </p:cNvSpPr>
          <p:nvPr/>
        </p:nvSpPr>
        <p:spPr>
          <a:xfrm>
            <a:off x="457200" y="4381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TWO LAWS</a:t>
            </a:r>
          </a:p>
        </p:txBody>
      </p:sp>
      <p:sp>
        <p:nvSpPr>
          <p:cNvPr id="2" name="close-one">
            <a:extLst>
              <a:ext uri="{FF2B5EF4-FFF2-40B4-BE49-F238E27FC236}">
                <a16:creationId xmlns:a16="http://schemas.microsoft.com/office/drawing/2014/main" id="{2568F7DF-C19B-4E2B-A610-2EB06E23B033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495300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45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Memory is</a:t>
            </a:r>
          </a:p>
          <a:p>
            <a:pPr algn="l">
              <a:defRPr sz="45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derived data—</a:t>
            </a:r>
          </a:p>
          <a:p>
            <a:pPr algn="l">
              <a:defRPr sz="45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not truth.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BED789AD-A6B9-42AF-8864-60B9D27A2977}"/>
              </a:ext>
            </a:extLst>
          </p:cNvPr>
          <p:cNvSpPr>
            <a:spLocks noGrp="1"/>
          </p:cNvSpPr>
          <p:nvPr/>
        </p:nvSpPr>
        <p:spPr>
          <a:xfrm>
            <a:off x="5924550" y="1352550"/>
            <a:ext cx="0" cy="356235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close-two">
            <a:extLst>
              <a:ext uri="{FF2B5EF4-FFF2-40B4-BE49-F238E27FC236}">
                <a16:creationId xmlns:a16="http://schemas.microsoft.com/office/drawing/2014/main" id="{A09E33BC-12B9-4268-9D87-CFF38D8EA4CF}"/>
              </a:ext>
            </a:extLst>
          </p:cNvPr>
          <p:cNvSpPr>
            <a:spLocks noGrp="1"/>
          </p:cNvSpPr>
          <p:nvPr/>
        </p:nvSpPr>
        <p:spPr>
          <a:xfrm>
            <a:off x="6572250" y="1428750"/>
            <a:ext cx="49530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Nothing becomes</a:t>
            </a:r>
          </a:p>
          <a:p>
            <a:pPr algn="l">
              <a:defRPr sz="36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durable merely</a:t>
            </a:r>
          </a:p>
          <a:p>
            <a:pPr algn="l">
              <a:defRPr sz="36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because the model</a:t>
            </a:r>
          </a:p>
          <a:p>
            <a:pPr algn="l">
              <a:defRPr sz="36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found it memorable.</a:t>
            </a:r>
          </a:p>
        </p:txBody>
      </p:sp>
      <p:sp>
        <p:nvSpPr>
          <p:cNvPr id="5" name="close-footer">
            <a:extLst>
              <a:ext uri="{FF2B5EF4-FFF2-40B4-BE49-F238E27FC236}">
                <a16:creationId xmlns:a16="http://schemas.microsoft.com/office/drawing/2014/main" id="{6E3ADD0C-1980-4A09-AAC1-8EC79A7E72B4}"/>
              </a:ext>
            </a:extLst>
          </p:cNvPr>
          <p:cNvSpPr>
            <a:spLocks noGrp="1"/>
          </p:cNvSpPr>
          <p:nvPr/>
        </p:nvSpPr>
        <p:spPr>
          <a:xfrm>
            <a:off x="457200" y="5810250"/>
            <a:ext cx="952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 model proposes. Policy decides. Code remembers.</a:t>
            </a:r>
          </a:p>
        </p:txBody>
      </p:sp>
    </p:spTree>
    <p:extLst>
      <p:ext uri="{BB962C8B-B14F-4D97-AF65-F5344CB8AC3E}">
        <p14:creationId xmlns:p14="http://schemas.microsoft.com/office/powerpoint/2010/main" val="45626130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2144</Words>
  <Application>Microsoft Macintosh PowerPoint</Application>
  <DocSecurity>0</DocSecurity>
  <PresentationFormat>Widescreen</PresentationFormat>
  <Paragraphs>439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Calibri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Manifold AI Learning Learn the Future</cp:lastModifiedBy>
  <cp:revision>1</cp:revision>
  <dcterms:created xsi:type="dcterms:W3CDTF">2026-08-28T04:10:02Z</dcterms:created>
  <dcterms:modified xsi:type="dcterms:W3CDTF">2026-08-29T16:08:27Z</dcterms:modified>
</cp:coreProperties>
</file>